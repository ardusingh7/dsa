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256" r:id="rId2"/>
    <p:sldId id="606" r:id="rId3"/>
    <p:sldId id="607" r:id="rId4"/>
    <p:sldId id="608" r:id="rId5"/>
    <p:sldId id="257" r:id="rId6"/>
    <p:sldId id="258" r:id="rId7"/>
    <p:sldId id="609" r:id="rId8"/>
    <p:sldId id="610" r:id="rId9"/>
    <p:sldId id="269" r:id="rId10"/>
    <p:sldId id="529" r:id="rId11"/>
    <p:sldId id="530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475" r:id="rId20"/>
    <p:sldId id="551" r:id="rId21"/>
    <p:sldId id="552" r:id="rId22"/>
    <p:sldId id="553" r:id="rId23"/>
    <p:sldId id="554" r:id="rId24"/>
    <p:sldId id="555" r:id="rId25"/>
    <p:sldId id="556" r:id="rId26"/>
    <p:sldId id="558" r:id="rId27"/>
    <p:sldId id="603" r:id="rId28"/>
    <p:sldId id="559" r:id="rId29"/>
    <p:sldId id="560" r:id="rId30"/>
    <p:sldId id="561" r:id="rId31"/>
    <p:sldId id="557" r:id="rId32"/>
    <p:sldId id="565" r:id="rId33"/>
    <p:sldId id="566" r:id="rId34"/>
    <p:sldId id="564" r:id="rId35"/>
    <p:sldId id="604" r:id="rId36"/>
    <p:sldId id="567" r:id="rId37"/>
    <p:sldId id="568" r:id="rId38"/>
    <p:sldId id="562" r:id="rId39"/>
    <p:sldId id="563" r:id="rId40"/>
    <p:sldId id="569" r:id="rId41"/>
    <p:sldId id="605" r:id="rId42"/>
    <p:sldId id="570" r:id="rId43"/>
    <p:sldId id="580" r:id="rId44"/>
    <p:sldId id="581" r:id="rId45"/>
    <p:sldId id="582" r:id="rId46"/>
    <p:sldId id="583" r:id="rId47"/>
    <p:sldId id="584" r:id="rId48"/>
    <p:sldId id="585" r:id="rId49"/>
    <p:sldId id="379" r:id="rId50"/>
    <p:sldId id="384" r:id="rId51"/>
    <p:sldId id="385" r:id="rId52"/>
    <p:sldId id="386" r:id="rId53"/>
    <p:sldId id="387" r:id="rId54"/>
    <p:sldId id="572" r:id="rId55"/>
    <p:sldId id="574" r:id="rId56"/>
    <p:sldId id="575" r:id="rId57"/>
    <p:sldId id="576" r:id="rId58"/>
    <p:sldId id="577" r:id="rId59"/>
    <p:sldId id="578" r:id="rId60"/>
    <p:sldId id="579" r:id="rId61"/>
    <p:sldId id="586" r:id="rId62"/>
    <p:sldId id="587" r:id="rId63"/>
    <p:sldId id="588" r:id="rId64"/>
    <p:sldId id="589" r:id="rId65"/>
    <p:sldId id="590" r:id="rId66"/>
    <p:sldId id="591" r:id="rId67"/>
    <p:sldId id="592" r:id="rId68"/>
    <p:sldId id="593" r:id="rId69"/>
    <p:sldId id="594" r:id="rId70"/>
    <p:sldId id="595" r:id="rId71"/>
    <p:sldId id="596" r:id="rId72"/>
    <p:sldId id="597" r:id="rId73"/>
    <p:sldId id="598" r:id="rId74"/>
    <p:sldId id="599" r:id="rId75"/>
    <p:sldId id="600" r:id="rId76"/>
    <p:sldId id="601" r:id="rId77"/>
    <p:sldId id="611" r:id="rId78"/>
    <p:sldId id="612" r:id="rId79"/>
    <p:sldId id="613" r:id="rId80"/>
    <p:sldId id="615" r:id="rId81"/>
    <p:sldId id="616" r:id="rId82"/>
    <p:sldId id="617" r:id="rId83"/>
    <p:sldId id="618" r:id="rId84"/>
    <p:sldId id="619" r:id="rId85"/>
    <p:sldId id="620" r:id="rId86"/>
  </p:sldIdLst>
  <p:sldSz cx="109728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4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5" autoAdjust="0"/>
    <p:restoredTop sz="94632"/>
  </p:normalViewPr>
  <p:slideViewPr>
    <p:cSldViewPr>
      <p:cViewPr varScale="1">
        <p:scale>
          <a:sx n="68" d="100"/>
          <a:sy n="68" d="100"/>
        </p:scale>
        <p:origin x="696" y="64"/>
      </p:cViewPr>
      <p:guideLst>
        <p:guide orient="horz" pos="2160"/>
        <p:guide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4AAC8D8-3D96-4946-A391-37BC9D7EF5A3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533F097-78E4-4CF3-A519-6875B37825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4D21C56-38A8-47BA-B75B-3C80862E38EB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13357C7-50A6-478D-8615-064D3455A4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C9A6C2D-5526-4610-BAC2-D65BD65BECEA}" type="slidenum">
              <a:rPr lang="en-US" altLang="en-US">
                <a:cs typeface="Arial" charset="0"/>
              </a:rPr>
              <a:pPr/>
              <a:t>1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A606B6-E8E7-4479-A005-F89CFBA1EF4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6246F01-A3CD-49AF-8C92-C05AA232653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D9B056E-37BF-4381-9213-BB96FEF9D1A8}" type="slidenum">
              <a:rPr lang="en-US" altLang="en-US">
                <a:cs typeface="Arial" charset="0"/>
              </a:rPr>
              <a:pPr/>
              <a:t>5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FD03D6-ACCC-4ACC-B053-7477F0C9471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CFED3AD-A09B-4E65-8B4D-331DA0DF70A0}" type="slidenum">
              <a:rPr lang="en-US" altLang="en-US">
                <a:cs typeface="Arial" charset="0"/>
              </a:rPr>
              <a:pPr/>
              <a:t>26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8090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20D9CB9-BF23-41B7-B00F-DC5E3CE6E534}" type="slidenum">
              <a:rPr lang="en-US" altLang="en-US">
                <a:cs typeface="Arial" charset="0"/>
              </a:rPr>
              <a:pPr/>
              <a:t>58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>
            <a:extLst>
              <a:ext uri="{FF2B5EF4-FFF2-40B4-BE49-F238E27FC236}">
                <a16:creationId xmlns:a16="http://schemas.microsoft.com/office/drawing/2014/main" id="{54B2A574-5222-4BA5-830C-32E926711E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Notes Placeholder 2">
            <a:extLst>
              <a:ext uri="{FF2B5EF4-FFF2-40B4-BE49-F238E27FC236}">
                <a16:creationId xmlns:a16="http://schemas.microsoft.com/office/drawing/2014/main" id="{79C8DB33-789A-4194-8D0F-A8498E6F6A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8244" name="Slide Number Placeholder 3">
            <a:extLst>
              <a:ext uri="{FF2B5EF4-FFF2-40B4-BE49-F238E27FC236}">
                <a16:creationId xmlns:a16="http://schemas.microsoft.com/office/drawing/2014/main" id="{2C2E303E-6664-48C9-815F-91A1D828F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FF44FD-487B-4172-84DE-2C14631A9320}" type="slidenum">
              <a:rPr lang="en-US" altLang="en-US"/>
              <a:pPr>
                <a:spcBef>
                  <a:spcPct val="0"/>
                </a:spcBef>
              </a:pPr>
              <a:t>84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30432"/>
            <a:ext cx="932688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3886200"/>
            <a:ext cx="76809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1A390-86F3-44F0-94E7-80BC38BD3F8C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035DC-E20B-4608-A6C5-DC91845087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B0DE9-44EE-463C-8FE1-0478189F04DE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7C281-8EDD-4612-9A1F-5AA39DFF69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4406907"/>
            <a:ext cx="932688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2906713"/>
            <a:ext cx="932688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776C7-87EE-4B4F-981C-B62F8426C896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F3640-2632-46B8-96DA-233AEE81C9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00206"/>
            <a:ext cx="48463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600206"/>
            <a:ext cx="48463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0E384-4A59-4457-B5BC-5D4D6776D9CE}" type="datetime1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81F6E-488D-40FB-97F6-ED5579E34D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35113"/>
            <a:ext cx="484822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174875"/>
            <a:ext cx="484822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2" y="1535113"/>
            <a:ext cx="48501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2" y="2174875"/>
            <a:ext cx="48501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48C53-27D1-4355-B9D4-8F06BC660461}" type="datetime1">
              <a:rPr lang="en-US" smtClean="0"/>
              <a:t>5/9/2023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F042C-2BE0-41C7-A573-5F605EEE75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76E9E-B5AA-4DA0-92EC-BD6CCCAD248D}" type="datetime1">
              <a:rPr lang="en-US" smtClean="0"/>
              <a:t>5/9/2023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7F4C3-8F6A-46B1-9E74-AB7968BE43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086C9-1C26-4C61-B91A-4ABADC215E67}" type="datetime1">
              <a:rPr lang="en-US" smtClean="0"/>
              <a:t>5/9/2023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46E64-8DF3-4A3C-95F2-EB32C08CC3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2" y="273050"/>
            <a:ext cx="360997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273057"/>
            <a:ext cx="61341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2" y="1435103"/>
            <a:ext cx="360997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66E4F-8E2F-4540-BC1B-128035B87908}" type="datetime1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44792-109D-409F-B83F-F1F91D7E3D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4800600"/>
            <a:ext cx="658368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612775"/>
            <a:ext cx="658368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5367338"/>
            <a:ext cx="658368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98C96-28D0-4672-9F7A-4E76FF52A7F8}" type="datetime1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1B8D2-CE91-4701-A102-AA0EFB2F49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44D18-5E90-4089-B85B-88B6A5D68971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4DD34-7B36-4953-A9D4-CCC98FB6D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274645"/>
            <a:ext cx="24688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274645"/>
            <a:ext cx="72237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4A18D-A216-4D07-85D7-A53A83E6D54E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98402-1B41-4AAC-B45B-709BDF29A3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48640" y="274638"/>
            <a:ext cx="98755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8640" y="1600206"/>
            <a:ext cx="987552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7"/>
            <a:ext cx="2560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93A326-409F-4F4D-9FB5-E701F970587A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6356357"/>
            <a:ext cx="3474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6356357"/>
            <a:ext cx="256032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925B7BA-F559-4E2F-BC96-A7D1032D47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0"/>
            <a:ext cx="9326880" cy="68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+mj-lt"/>
              </a:rPr>
              <a:t>Noida Institute of Engineering and Technology, Greater Noida</a:t>
            </a:r>
          </a:p>
        </p:txBody>
      </p:sp>
      <p:pic>
        <p:nvPicPr>
          <p:cNvPr id="2052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6035040" y="3962400"/>
            <a:ext cx="4572000" cy="1752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2054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5943600"/>
            <a:ext cx="64008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8"/>
          <p:cNvSpPr>
            <a:spLocks noGrp="1"/>
          </p:cNvSpPr>
          <p:nvPr>
            <p:ph type="dt" sz="quarter" idx="10"/>
          </p:nvPr>
        </p:nvSpPr>
        <p:spPr>
          <a:xfrm>
            <a:off x="457200" y="6492882"/>
            <a:ext cx="2560320" cy="365125"/>
          </a:xfrm>
        </p:spPr>
        <p:txBody>
          <a:bodyPr/>
          <a:lstStyle/>
          <a:p>
            <a:pPr>
              <a:defRPr/>
            </a:pPr>
            <a:fld id="{6D830C5B-4791-4410-867E-851E12F64E8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2056" name="Slide Number Placeholder 9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FE2AF16-B5D8-4549-9BD7-15CD210D4BDC}" type="slidenum">
              <a:rPr lang="en-US" altLang="en-US">
                <a:cs typeface="Arial" charset="0"/>
              </a:rPr>
              <a:pPr/>
              <a:t>1</a:t>
            </a:fld>
            <a:endParaRPr lang="en-US" altLang="en-US">
              <a:cs typeface="Arial" charset="0"/>
            </a:endParaRPr>
          </a:p>
        </p:txBody>
      </p:sp>
      <p:pic>
        <p:nvPicPr>
          <p:cNvPr id="2057" name="Picture 4" descr="C:\Users\Manks\Downloads\speak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5200" y="2590800"/>
            <a:ext cx="1828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1737360" y="6248407"/>
            <a:ext cx="84124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971800" y="914400"/>
            <a:ext cx="6400800" cy="1752600"/>
          </a:xfrm>
          <a:prstGeom prst="rect">
            <a:avLst/>
          </a:prstGeom>
          <a:ln w="25400" cap="flat" cmpd="sng" algn="ctr">
            <a:solidFill>
              <a:schemeClr val="accent5"/>
            </a:solidFill>
            <a:prstDash val="solid"/>
            <a:miter lim="800000"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 solving using Advanced Python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(ACSE0101/AMICSE0101)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ubtitle 2"/>
          <p:cNvSpPr txBox="1">
            <a:spLocks/>
          </p:cNvSpPr>
          <p:nvPr/>
        </p:nvSpPr>
        <p:spPr>
          <a:xfrm>
            <a:off x="1166813" y="2971800"/>
            <a:ext cx="2057400" cy="533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500" dirty="0">
                <a:solidFill>
                  <a:schemeClr val="tx1"/>
                </a:solidFill>
              </a:rPr>
              <a:t>UNIT-III</a:t>
            </a:r>
          </a:p>
        </p:txBody>
      </p:sp>
      <p:sp>
        <p:nvSpPr>
          <p:cNvPr id="19" name="Subtitle 2"/>
          <p:cNvSpPr txBox="1">
            <a:spLocks/>
          </p:cNvSpPr>
          <p:nvPr/>
        </p:nvSpPr>
        <p:spPr>
          <a:xfrm>
            <a:off x="1119188" y="3810000"/>
            <a:ext cx="4191000" cy="838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1"/>
                </a:solidFill>
              </a:rPr>
              <a:t>Functional Programming</a:t>
            </a:r>
          </a:p>
        </p:txBody>
      </p:sp>
      <p:sp>
        <p:nvSpPr>
          <p:cNvPr id="20" name="Subtitle 2"/>
          <p:cNvSpPr txBox="1">
            <a:spLocks/>
          </p:cNvSpPr>
          <p:nvPr/>
        </p:nvSpPr>
        <p:spPr>
          <a:xfrm>
            <a:off x="1095375" y="4876800"/>
            <a:ext cx="4191000" cy="838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B. Tech Second Semester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(Common to multiple branches)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  <p:bldP spid="18" grpId="0" build="p" animBg="1"/>
      <p:bldP spid="19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sz="half" idx="1"/>
          </p:nvPr>
        </p:nvSpPr>
        <p:spPr>
          <a:xfrm>
            <a:off x="274639" y="990600"/>
            <a:ext cx="5668962" cy="5135563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200" dirty="0"/>
              <a:t>Course Outcomes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Syllabus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Contents of the Unit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Objectives of the Unit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CO- PO correlation </a:t>
            </a:r>
            <a:r>
              <a:rPr lang="en-US" sz="2200" dirty="0" err="1"/>
              <a:t>w.r.t</a:t>
            </a:r>
            <a:r>
              <a:rPr lang="en-US" sz="2200" dirty="0"/>
              <a:t>. Unit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CO-PSO  correlation </a:t>
            </a:r>
            <a:r>
              <a:rPr lang="en-US" sz="2200" dirty="0" err="1"/>
              <a:t>w.r.t</a:t>
            </a:r>
            <a:r>
              <a:rPr lang="en-US" sz="2200" dirty="0"/>
              <a:t>. Unit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Prerequisite and Recap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Objectives of the topic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Topic mapping with CO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Video Links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Daily Quiz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MCQs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Weekly assignment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>
          <a:xfrm>
            <a:off x="6126163" y="990600"/>
            <a:ext cx="4846637" cy="5135563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endParaRPr lang="en-US" sz="2200" dirty="0"/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Old University Exam Paper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Expected Questions for University Exams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Summary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/>
              <a:t>References</a:t>
            </a:r>
          </a:p>
          <a:p>
            <a:pPr>
              <a:buFont typeface="Arial" charset="0"/>
              <a:buChar char="•"/>
              <a:defRPr/>
            </a:pPr>
            <a:endParaRPr lang="en-US" sz="22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D3927DA-C3C5-4FE3-8D52-49EA5642BD33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651128" y="6356357"/>
            <a:ext cx="567055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205FC1-E7A0-49C4-8FA4-0A3D5BA0416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46239" y="0"/>
            <a:ext cx="9326562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/>
              <a:t>Index</a:t>
            </a:r>
          </a:p>
        </p:txBody>
      </p:sp>
      <p:pic>
        <p:nvPicPr>
          <p:cNvPr id="3080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" y="7"/>
            <a:ext cx="1736725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7B8246-3890-4CB2-8D86-B8D8D1AA862A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CF874CE-5919-433E-981D-53420242018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03020" y="0"/>
            <a:ext cx="96697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Course Outcome</a:t>
            </a:r>
          </a:p>
        </p:txBody>
      </p:sp>
      <p:pic>
        <p:nvPicPr>
          <p:cNvPr id="819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"/>
            <a:ext cx="130302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80" y="1179513"/>
          <a:ext cx="9532620" cy="526217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2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8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7007">
                <a:tc>
                  <a:txBody>
                    <a:bodyPr/>
                    <a:lstStyle/>
                    <a:p>
                      <a:r>
                        <a:rPr lang="en-IN" sz="2400" dirty="0"/>
                        <a:t>Course Outcome</a:t>
                      </a:r>
                    </a:p>
                    <a:p>
                      <a:r>
                        <a:rPr lang="en-IN" sz="2400" dirty="0"/>
                        <a:t> ( CO)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296" marR="82296" marT="45730" marB="4573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At the end of course , the student will be able to: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296" marR="82296" marT="45730" marB="45730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Bloom’s Knowledge Level (KL)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296" marR="82296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30"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classes and create instances in python.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K1, K2</a:t>
                      </a:r>
                    </a:p>
                  </a:txBody>
                  <a:tcPr marL="82296" marR="82296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053">
                <a:tc>
                  <a:txBody>
                    <a:bodyPr/>
                    <a:lstStyle/>
                    <a:p>
                      <a:r>
                        <a:rPr lang="en-IN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alt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concept of inheritance and polymorphism using python.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r>
                        <a:rPr lang="en-IN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K3</a:t>
                      </a:r>
                    </a:p>
                  </a:txBody>
                  <a:tcPr marL="82296" marR="82296" marT="45736" marB="457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088"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functional programming in python. 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K2</a:t>
                      </a:r>
                    </a:p>
                  </a:txBody>
                  <a:tcPr marL="82296" marR="82296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289"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GUI based Python application. 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K3</a:t>
                      </a:r>
                    </a:p>
                  </a:txBody>
                  <a:tcPr marL="82296" marR="82296" marT="45736" marB="457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012"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the concept of Python libraries to solve real world problems.</a:t>
                      </a:r>
                      <a:endParaRPr lang="en-IN" altLang="en-US" sz="2400" dirty="0"/>
                    </a:p>
                  </a:txBody>
                  <a:tcPr marL="82296" marR="82296" marT="45736" marB="45736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K3, K6</a:t>
                      </a:r>
                    </a:p>
                  </a:txBody>
                  <a:tcPr marL="82296" marR="82296" marT="45736" marB="457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33D2E7-A4C6-4FB1-BB58-18901218249C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1229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FD6B992-4A1B-432F-8EAC-FF29AB0B471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45920" y="0"/>
            <a:ext cx="932688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Syllabus</a:t>
            </a:r>
          </a:p>
        </p:txBody>
      </p:sp>
      <p:pic>
        <p:nvPicPr>
          <p:cNvPr id="1229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IN" sz="2400" b="1" dirty="0"/>
              <a:t>Functional Programming</a:t>
            </a:r>
          </a:p>
          <a:p>
            <a:pPr eaLnBrk="1" hangingPunct="1">
              <a:buFont typeface="Arial" pitchFamily="34" charset="0"/>
              <a:buNone/>
            </a:pPr>
            <a:endParaRPr lang="en-IN" sz="2400" dirty="0"/>
          </a:p>
          <a:p>
            <a:r>
              <a:rPr lang="en-US" sz="2400" dirty="0"/>
              <a:t>Map, filter, Reduce, Comprehensions,  Immutability, Closures and Decorators, generators, Co-routines, </a:t>
            </a:r>
            <a:r>
              <a:rPr lang="en-US" sz="2400" dirty="0" err="1"/>
              <a:t>iterators</a:t>
            </a:r>
            <a:r>
              <a:rPr lang="en-US" sz="2400" dirty="0"/>
              <a:t>, Declarative programming</a:t>
            </a:r>
          </a:p>
        </p:txBody>
      </p:sp>
      <p:sp>
        <p:nvSpPr>
          <p:cNvPr id="12295" name="TextBox 11"/>
          <p:cNvSpPr txBox="1">
            <a:spLocks noChangeArrowheads="1"/>
          </p:cNvSpPr>
          <p:nvPr/>
        </p:nvSpPr>
        <p:spPr bwMode="auto">
          <a:xfrm>
            <a:off x="731520" y="1077913"/>
            <a:ext cx="173736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/>
              <a:t>UNIT-3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9601200" cy="5181600"/>
          </a:xfrm>
        </p:spPr>
        <p:txBody>
          <a:bodyPr/>
          <a:lstStyle/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Map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Filter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Reduce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Comprehensions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Immutability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Closures and Decorators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Generators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Co-routines, iterators</a:t>
            </a:r>
          </a:p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Declarative programming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5B6B59-95E2-4F34-AF03-984E1D9A39E6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307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8E9152-4B66-42BF-9FAA-7DD3B5F26317}" type="slidenum">
              <a:rPr lang="en-US" altLang="en-US">
                <a:cs typeface="Arial" charset="0"/>
              </a:rPr>
              <a:pPr/>
              <a:t>5</a:t>
            </a:fld>
            <a:endParaRPr lang="en-US" altLang="en-US">
              <a:cs typeface="Arial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the Unit</a:t>
            </a:r>
          </a:p>
        </p:txBody>
      </p:sp>
      <p:pic>
        <p:nvPicPr>
          <p:cNvPr id="3078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920240" y="6356357"/>
            <a:ext cx="80467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0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640080" y="1447800"/>
            <a:ext cx="10058400" cy="5105400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After completion of this unit, student should be able to:</a:t>
            </a:r>
          </a:p>
          <a:p>
            <a:pPr algn="just" eaLnBrk="1" hangingPunct="1">
              <a:buFont typeface="Arial" charset="0"/>
              <a:buNone/>
            </a:pP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Learn the concept of map, filter and reduce functions.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Have the knowledge of declarative programming.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Learn the concepts of closures, decorators and generators.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Explore the knowledge of comprehensions and co routines.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IN" altLang="en-US" sz="2000" dirty="0"/>
          </a:p>
          <a:p>
            <a:pPr lvl="1" algn="just" eaLnBrk="1" hangingPunct="1"/>
            <a:endParaRPr lang="en-US" altLang="en-US" sz="2000" dirty="0"/>
          </a:p>
          <a:p>
            <a:pPr eaLnBrk="1" hangingPunct="1"/>
            <a:endParaRPr lang="en-US" alt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24811B-DA6E-4DD9-BD96-142E92B01748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7360" y="6248407"/>
            <a:ext cx="813816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E2E2AF-00F0-4DE9-BE3B-852B2C353108}" type="slidenum">
              <a:rPr lang="en-US" altLang="en-US">
                <a:cs typeface="Arial" charset="0"/>
              </a:rPr>
              <a:pPr/>
              <a:t>6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Unit</a:t>
            </a:r>
          </a:p>
        </p:txBody>
      </p:sp>
      <p:pic>
        <p:nvPicPr>
          <p:cNvPr id="410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A036313-6812-47F2-B1D8-C224839CE0F0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63C3B92-9CCA-4661-826A-52CFA1FEEF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03020" y="0"/>
            <a:ext cx="96697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CO-PO  Correlation Matrix</a:t>
            </a:r>
          </a:p>
        </p:txBody>
      </p:sp>
      <p:pic>
        <p:nvPicPr>
          <p:cNvPr id="922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"/>
            <a:ext cx="130302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03020" y="1371600"/>
          <a:ext cx="8607499" cy="452596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62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7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</a:rPr>
                        <a:t> CO.K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PO1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PO2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PO3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PO4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PO5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PO6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PO7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PO8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PO9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PO10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PO11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PO12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5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CO1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2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CO3</a:t>
                      </a:r>
                      <a:endParaRPr lang="en-US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CO4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353" marR="7353" marT="817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1" u="none" strike="noStrike" dirty="0">
                          <a:effectLst/>
                        </a:rPr>
                        <a:t>CO5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353" marR="7353" marT="817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2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effectLst/>
                        </a:rPr>
                        <a:t>AVG 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</a:t>
                      </a:r>
                    </a:p>
                  </a:txBody>
                  <a:tcPr marL="7353" marR="7353" marT="817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7353" marR="7353" marT="817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3218B6B-CD52-42E1-BA61-6B663DCAC4FB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1024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90356B-9117-4B49-8FF1-B4ED39FC43B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44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645920" y="0"/>
            <a:ext cx="932688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/>
              <a:t>CO-PSO correlation matrix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</p:nvPr>
        </p:nvGraphicFramePr>
        <p:xfrm>
          <a:off x="1280160" y="1752602"/>
          <a:ext cx="7863842" cy="2796223"/>
        </p:xfrm>
        <a:graphic>
          <a:graphicData uri="http://schemas.openxmlformats.org/drawingml/2006/table">
            <a:tbl>
              <a:tblPr/>
              <a:tblGrid>
                <a:gridCol w="1241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+mn-lt"/>
                          <a:ea typeface="Calibri"/>
                          <a:cs typeface="Times New Roman"/>
                        </a:rPr>
                        <a:t>CO</a:t>
                      </a: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atin typeface="+mn-lt"/>
                          <a:ea typeface="Times New Roman"/>
                          <a:cs typeface="Calibri"/>
                        </a:rPr>
                        <a:t>PSO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+mn-lt"/>
                          <a:ea typeface="Calibri"/>
                          <a:cs typeface="Times New Roman"/>
                        </a:rPr>
                        <a:t>PSO1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+mn-lt"/>
                          <a:ea typeface="Calibri"/>
                          <a:cs typeface="Times New Roman"/>
                        </a:rPr>
                        <a:t>PSO2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+mn-lt"/>
                          <a:ea typeface="Calibri"/>
                          <a:cs typeface="Times New Roman"/>
                        </a:rPr>
                        <a:t>PSO3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+mn-lt"/>
                          <a:ea typeface="Calibri"/>
                          <a:cs typeface="Times New Roman"/>
                        </a:rPr>
                        <a:t>PSO4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CO3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latin typeface="+mn-lt"/>
                          <a:ea typeface="Calibri"/>
                          <a:cs typeface="Times New Roman"/>
                        </a:rPr>
                        <a:t>CO4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latin typeface="+mn-lt"/>
                          <a:ea typeface="Calibri"/>
                          <a:cs typeface="Times New Roman"/>
                        </a:rPr>
                        <a:t>CO5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latin typeface="Calibri"/>
                          <a:ea typeface="Calibri"/>
                          <a:cs typeface="Times New Roman"/>
                        </a:rPr>
                        <a:t>Average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+mn-lt"/>
                          <a:ea typeface="Calibri"/>
                          <a:cs typeface="Times New Roman"/>
                        </a:rPr>
                        <a:t>1.4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+mn-lt"/>
                          <a:ea typeface="Calibri"/>
                          <a:cs typeface="Times New Roman"/>
                        </a:rPr>
                        <a:t>1.4</a:t>
                      </a:r>
                    </a:p>
                  </a:txBody>
                  <a:tcPr marL="82296" marR="82296" marT="0" marB="0"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5E5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640080" y="1143007"/>
            <a:ext cx="9875520" cy="4525963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, Objects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Hiding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</a:p>
          <a:p>
            <a:pPr marL="0" indent="0" eaLnBrk="1" hangingPunct="1">
              <a:buFont typeface="Arial" pitchFamily="34" charset="0"/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35B5B11-B9BB-44FB-97E3-A21474743F3E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6356357"/>
            <a:ext cx="84124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3DCB99A-D7A2-453F-911A-D58FB4A2418E}" type="slidenum">
              <a:rPr lang="en-US" altLang="en-US">
                <a:cs typeface="Arial" charset="0"/>
              </a:rPr>
              <a:pPr/>
              <a:t>9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 and Recap</a:t>
            </a:r>
          </a:p>
        </p:txBody>
      </p:sp>
      <p:pic>
        <p:nvPicPr>
          <p:cNvPr id="717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640080" y="1143000"/>
            <a:ext cx="9875520" cy="5105400"/>
          </a:xfrm>
        </p:spPr>
        <p:txBody>
          <a:bodyPr/>
          <a:lstStyle/>
          <a:p>
            <a:pPr algn="just" eaLnBrk="1" hangingPunct="1"/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The primary objective of the course is to make students able to: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Understand the concept of functional programming.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Create closures and decorators in a program.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Understand the concept of  Declarative programming.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Understand how comprehensions and co routines are done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Understand immutability using python.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0A9C35B-80C7-408C-896F-953B7BB1D63A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7360" y="6248407"/>
            <a:ext cx="813816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1208DC0-4B83-4C82-A8BF-7DB86054D011}" type="slidenum">
              <a:rPr lang="en-US" altLang="en-US">
                <a:cs typeface="Arial" charset="0"/>
              </a:rPr>
              <a:pPr/>
              <a:t>10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Objectives of the Topic</a:t>
            </a:r>
          </a:p>
        </p:txBody>
      </p:sp>
      <p:pic>
        <p:nvPicPr>
          <p:cNvPr id="819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10607040" cy="51054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Functional Programming is a </a:t>
            </a:r>
            <a:r>
              <a:rPr lang="en-US" altLang="en-US" sz="2400" b="1" i="1"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 paradigm with software primarily composed of functions processing data throughout its execution. </a:t>
            </a:r>
          </a:p>
          <a:p>
            <a:pPr algn="just">
              <a:buFont typeface="Arial" charset="0"/>
              <a:buNone/>
            </a:pPr>
            <a:endParaRPr lang="en-US" altLang="en-US" sz="26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 allows us to code in a </a:t>
            </a:r>
            <a:r>
              <a:rPr lang="en-US" altLang="en-US" sz="2400" b="1" i="1">
                <a:latin typeface="Times New Roman" pitchFamily="18" charset="0"/>
                <a:cs typeface="Times New Roman" pitchFamily="18" charset="0"/>
              </a:rPr>
              <a:t>functional, declarative style. </a:t>
            </a:r>
          </a:p>
          <a:p>
            <a:pPr algn="just">
              <a:buFont typeface="Arial" charset="0"/>
              <a:buNone/>
            </a:pPr>
            <a:endParaRPr lang="en-US" alt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It even has support for many common </a:t>
            </a:r>
            <a:r>
              <a:rPr lang="en-US" altLang="en-US" sz="2400" b="1" i="1">
                <a:latin typeface="Times New Roman" pitchFamily="18" charset="0"/>
                <a:cs typeface="Times New Roman" pitchFamily="18" charset="0"/>
              </a:rPr>
              <a:t>functional features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 like Lambda Expressions and the map and filter functions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88618BF-F8F4-431E-ABB2-BC5D56633171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17520" y="6356357"/>
            <a:ext cx="603504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AB5EB9-CE9A-4BAB-9512-50CDB06E80B6}" type="slidenum">
              <a:rPr lang="en-US" altLang="en-US">
                <a:cs typeface="Arial" charset="0"/>
              </a:rPr>
              <a:pPr/>
              <a:t>11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Functional Programming(CO3)</a:t>
            </a:r>
          </a:p>
        </p:txBody>
      </p:sp>
      <p:pic>
        <p:nvPicPr>
          <p:cNvPr id="922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607040" cy="5105400"/>
          </a:xfrm>
        </p:spPr>
        <p:txBody>
          <a:bodyPr/>
          <a:lstStyle/>
          <a:p>
            <a:pPr algn="just"/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Functional programming languages are designed on the concept of mathematical functions that use conditional expressions and recursion to perform computation.</a:t>
            </a:r>
          </a:p>
          <a:p>
            <a:pPr algn="just"/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Functional programming supports </a:t>
            </a:r>
            <a:r>
              <a:rPr lang="en-US" altLang="en-US" sz="2200" b="1" i="1">
                <a:latin typeface="Times New Roman" pitchFamily="18" charset="0"/>
                <a:cs typeface="Times New Roman" pitchFamily="18" charset="0"/>
              </a:rPr>
              <a:t>higher-order functions</a:t>
            </a:r>
            <a:r>
              <a:rPr lang="en-US" altLang="en-US" sz="2200" i="1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and </a:t>
            </a:r>
            <a:r>
              <a:rPr lang="en-US" altLang="en-US" sz="2200" b="1" i="1">
                <a:latin typeface="Times New Roman" pitchFamily="18" charset="0"/>
                <a:cs typeface="Times New Roman" pitchFamily="18" charset="0"/>
              </a:rPr>
              <a:t>lazy evaluation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 features.</a:t>
            </a:r>
          </a:p>
          <a:p>
            <a:pPr algn="just"/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Functional programming languages don’t support flow Controls like loop statements and conditional statements like If-Else and Switch Statements. They directly use the functions and functional calls.</a:t>
            </a:r>
          </a:p>
          <a:p>
            <a:pPr algn="just"/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Like OOP, functional programming languages support popular concepts such as Abstraction, Encapsulation, Inheritance, and Polymorphism</a:t>
            </a:r>
          </a:p>
          <a:p>
            <a:pPr algn="just"/>
            <a:endParaRPr lang="en-US" alt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D432395-845D-4DC0-95F2-AE679C44BE46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17520" y="6356357"/>
            <a:ext cx="603504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59D3AC-A729-4BBB-9640-FDDF7FDDA0AE}" type="slidenum">
              <a:rPr lang="en-US" altLang="en-US">
                <a:cs typeface="Arial" charset="0"/>
              </a:rPr>
              <a:pPr/>
              <a:t>12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Functional Programming Characteristics (CO3)</a:t>
            </a:r>
          </a:p>
        </p:txBody>
      </p:sp>
      <p:pic>
        <p:nvPicPr>
          <p:cNvPr id="1024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10607040" cy="5105400"/>
          </a:xfrm>
        </p:spPr>
        <p:txBody>
          <a:bodyPr>
            <a:normAutofit fontScale="625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Bugs-Free Code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Functional programming does not support 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there are no side-effect results and we can write error-free codes.</a:t>
            </a:r>
          </a:p>
          <a:p>
            <a:pPr>
              <a:buFont typeface="Arial" pitchFamily="34" charset="0"/>
              <a:buNone/>
              <a:defRPr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Parallel Programming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Functional programming languages have NO Mutable state, so there are no state-change issues. One can program "Functions" to work parallel as "instructions". Such codes support easy reusability and testability.</a:t>
            </a:r>
          </a:p>
          <a:p>
            <a:pPr>
              <a:buFont typeface="Arial" pitchFamily="34" charset="0"/>
              <a:buNone/>
              <a:defRPr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3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Functional programs consist of independent units that can run concurrently. As a result, such programs are more efficient.</a:t>
            </a:r>
          </a:p>
          <a:p>
            <a:pPr>
              <a:buFont typeface="Arial" pitchFamily="34" charset="0"/>
              <a:buNone/>
              <a:defRPr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Nested Functions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Functional programming supports Nested Functions.</a:t>
            </a:r>
          </a:p>
          <a:p>
            <a:pPr>
              <a:buFont typeface="Arial" pitchFamily="34" charset="0"/>
              <a:buNone/>
              <a:defRPr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3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 Evaluation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Functional programming supports Lazy Functional Constructs like Lazy Lists, Lazy Maps, etc.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09145D-839B-4671-B3B0-F7A1F238A7D9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17520" y="6356357"/>
            <a:ext cx="603504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C5467E5-7D00-4FB0-8FF6-246859F5CF6F}" type="slidenum">
              <a:rPr lang="en-US" altLang="en-US">
                <a:cs typeface="Arial" charset="0"/>
              </a:rPr>
              <a:pPr/>
              <a:t>13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Advantages of Functional Programming (CO3)</a:t>
            </a:r>
          </a:p>
        </p:txBody>
      </p:sp>
      <p:pic>
        <p:nvPicPr>
          <p:cNvPr id="1127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1280160" y="685802"/>
          <a:ext cx="9326880" cy="577214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82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51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Functional Programming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OOP</a:t>
                      </a:r>
                      <a:endParaRPr lang="en-US" sz="1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546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Uses Immutable data.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Uses Mutable data.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898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Follows Declarative Programming Model.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Follows Imperative Programming Model.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730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 is on: “What you are doing”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 is on “How you are doing”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730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Supports Parallel Programming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 suitable for Parallel Programming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898">
                <a:tc>
                  <a:txBody>
                    <a:bodyPr/>
                    <a:lstStyle/>
                    <a:p>
                      <a:pPr fontAlgn="ctr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Its functions have no-side effects</a:t>
                      </a:r>
                    </a:p>
                  </a:txBody>
                  <a:tcPr marL="70908" marR="70908" marT="59097" marB="59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Its methods can produce serious side effects.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27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Flow Control is done using function calls &amp; function calls with recursion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Flow control is done using loops and conditional statements.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276">
                <a:tc>
                  <a:txBody>
                    <a:bodyPr/>
                    <a:lstStyle/>
                    <a:p>
                      <a:pPr fontAlgn="ctr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 uses "Recursion" concept to iterate Collection Data.</a:t>
                      </a:r>
                    </a:p>
                  </a:txBody>
                  <a:tcPr marL="70908" marR="70908" marT="59097" marB="59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 uses "Loop" concept to iterate Collection Data. For example: For-each loop in Java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327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Execution order of statements is not so important.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Execution order of statements is very important.</a:t>
                      </a:r>
                    </a:p>
                  </a:txBody>
                  <a:tcPr marL="70908" marR="70908" marT="59097" marB="590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63F43B-C69A-46B7-88F0-79EE8D2B1656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17520" y="6356357"/>
            <a:ext cx="603504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23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5C3752E-73C1-49A6-B3B1-EB1C7B8A6A01}" type="slidenum">
              <a:rPr lang="en-US" altLang="en-US">
                <a:cs typeface="Arial" charset="0"/>
              </a:rPr>
              <a:pPr/>
              <a:t>14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Comparison between FP &amp; OOPS(CO3)</a:t>
            </a:r>
          </a:p>
        </p:txBody>
      </p:sp>
      <p:pic>
        <p:nvPicPr>
          <p:cNvPr id="12326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43000"/>
            <a:ext cx="9692640" cy="42672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A function without a name is called as Anonymous Function. It is also known as Lambda Function.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Anonymous Function are not defined using def  keyword rather they are defined using lambda keyword.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lambda argument_list : expression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Ex:- 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lambda x : print(x) </a:t>
            </a:r>
          </a:p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lambda x, y : x + y</a:t>
            </a:r>
          </a:p>
          <a:p>
            <a:pPr marL="0" indent="0">
              <a:buFont typeface="Arial" charset="0"/>
              <a:buNone/>
            </a:pPr>
            <a:endParaRPr lang="en-US" altLang="en-US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Anonymous or Lambda Function </a:t>
            </a:r>
            <a:endParaRPr lang="en-US" sz="2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F3B11F-15DB-4B9B-BD35-E4ED6ABF563D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  <p:sp>
        <p:nvSpPr>
          <p:cNvPr id="13319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F87419-C213-48EF-98F6-B62350DE449B}" type="slidenum">
              <a:rPr lang="en-US" altLang="en-US">
                <a:cs typeface="Arial" charset="0"/>
              </a:rPr>
              <a:pPr/>
              <a:t>15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828800"/>
            <a:ext cx="9875520" cy="35814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0" indent="0">
              <a:buFont typeface="Arial" charset="0"/>
              <a:buNone/>
            </a:pP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argument_list : expression</a:t>
            </a:r>
          </a:p>
          <a:p>
            <a:pPr marL="0" indent="0">
              <a:buFont typeface="Arial" charset="0"/>
              <a:buNone/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Ex:- </a:t>
            </a:r>
          </a:p>
          <a:p>
            <a:pPr marL="0" indent="0">
              <a:buFont typeface="Arial" charset="0"/>
              <a:buNone/>
            </a:pPr>
            <a:endParaRPr lang="en-US" altLang="en-US" sz="2000" i="1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marL="0" indent="0">
              <a:buFont typeface="Arial" charset="0"/>
              <a:buNone/>
            </a:pP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en-US" sz="2000" b="1" i="1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 x, y : x + y</a:t>
            </a:r>
          </a:p>
          <a:p>
            <a:pPr marL="0" indent="0">
              <a:buFont typeface="Arial" charset="0"/>
              <a:buNone/>
            </a:pPr>
            <a:endParaRPr lang="en-US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343407"/>
            <a:ext cx="4389120" cy="646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keyword represents an anonymous Function is being created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2926082" y="3962400"/>
            <a:ext cx="35433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4" y="2971800"/>
            <a:ext cx="153343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Argument List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 rot="16200000" flipH="1">
            <a:off x="3341706" y="3052146"/>
            <a:ext cx="392668" cy="9706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5347" y="2525714"/>
            <a:ext cx="36535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represents beginning of the function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4389120" y="2895600"/>
            <a:ext cx="64008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2081" y="2971800"/>
            <a:ext cx="121058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Expression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937762" y="3352800"/>
            <a:ext cx="501016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34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Creating a Lambda Function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E11BC47-E966-492A-A56D-C9697F7475AD}" type="datetime1">
              <a:rPr lang="en-US" smtClean="0"/>
              <a:t>5/9/2023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749040" y="6324607"/>
            <a:ext cx="5120640" cy="3968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4351" name="Slide Number Placeholder 9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F9E424-E5AA-4C7B-B8E6-87B9B172CDB3}" type="slidenum">
              <a:rPr lang="en-US" altLang="en-US">
                <a:cs typeface="Arial" charset="0"/>
              </a:rPr>
              <a:pPr/>
              <a:t>16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12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7360" y="1219200"/>
            <a:ext cx="8686800" cy="44958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sum = lambda x : x + 1</a:t>
            </a:r>
          </a:p>
          <a:p>
            <a:pPr marL="0" indent="0">
              <a:buFont typeface="Arial" charset="0"/>
              <a:buNone/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sum(5)</a:t>
            </a:r>
          </a:p>
          <a:p>
            <a:pPr marL="0" indent="0">
              <a:buFont typeface="Arial" charset="0"/>
              <a:buNone/>
            </a:pPr>
            <a:endParaRPr lang="en-US" altLang="en-US" sz="28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add = lambda x, y : x + y</a:t>
            </a:r>
          </a:p>
          <a:p>
            <a:pPr marL="0" indent="0">
              <a:buFont typeface="Arial" charset="0"/>
              <a:buNone/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add(5, 2)</a:t>
            </a:r>
          </a:p>
          <a:p>
            <a:pPr marL="0" indent="0">
              <a:buFont typeface="Arial" charset="0"/>
              <a:buNone/>
            </a:pPr>
            <a:endParaRPr lang="en-US" altLang="en-US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Calling Lambda Function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6186457-4F4E-4F01-84E8-AF3EB74772AC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749040" y="6248407"/>
            <a:ext cx="4937760" cy="4730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5367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1AA04BF-BF82-4579-AA66-609B116586EC}" type="slidenum">
              <a:rPr lang="en-US" altLang="en-US">
                <a:cs typeface="Arial" charset="0"/>
              </a:rPr>
              <a:pPr/>
              <a:t>17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817570"/>
            <a:ext cx="9052560" cy="4897437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Lambda Function doesn’t have any Name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Ex:-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x : print(x) 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Lambda function returns a function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Ex:- show = 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x : print(x) 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Lambda function can take zero or any number of argument but contains only one expression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Ex:-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x, y : x + y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lambda Function there is no need to write return statement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can only contain expressions and can’t include statements in its body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You can use all the type of Actual Arguments </a:t>
            </a:r>
          </a:p>
        </p:txBody>
      </p:sp>
      <p:pic>
        <p:nvPicPr>
          <p:cNvPr id="1638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Anonymous Function or Lambdas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2210EBA-066F-4340-9BEA-E4BA6149A598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749040" y="6324607"/>
            <a:ext cx="4754880" cy="3968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6391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15C3977-4937-4A07-862F-F277E7228BF3}" type="slidenum">
              <a:rPr lang="en-US" altLang="en-US">
                <a:cs typeface="Arial" charset="0"/>
              </a:rPr>
              <a:pPr/>
              <a:t>18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48640" y="1219200"/>
            <a:ext cx="9875520" cy="4876800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functions are mainly used in combination with the functions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filter(), map() and reduce(). 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lambda feature was added to Python due to the demand from Lisp programmers.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Map()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17412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F0B163-328F-440F-93BE-8D648FC775DA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7415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433E94-A4FA-4287-9EC3-E2872F1B2F91}" type="slidenum">
              <a:rPr lang="en-US" altLang="en-US">
                <a:cs typeface="Arial" charset="0"/>
              </a:rPr>
              <a:pPr/>
              <a:t>19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48640" y="1219200"/>
            <a:ext cx="9875520" cy="4876800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 of the lambda operator can be seen when it is used in combination with the map() function.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map() is a function with two arguments: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 = map(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name of a function and the second a sequence (e.g. a list) seq. 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map() applies the function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all the elements of the sequence seq.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a new list with the elements changed by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itchFamily="34" charset="0"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Map()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18436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E81D95-A74C-4860-AD61-20CD5F128D88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8439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61D2667-B894-474D-A873-864A992E3686}" type="slidenum">
              <a:rPr lang="en-US" altLang="en-US">
                <a:cs typeface="Arial" charset="0"/>
              </a:rPr>
              <a:pPr/>
              <a:t>20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63040" y="1905007"/>
            <a:ext cx="8138160" cy="2333625"/>
          </a:xfr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Map() Program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19460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1BB827-2C80-4977-B3FF-9E7C3021251C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9463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04660B5-D74A-4275-9271-FD987C161C7B}" type="slidenum">
              <a:rPr lang="en-US" altLang="en-US">
                <a:cs typeface="Arial" charset="0"/>
              </a:rPr>
              <a:pPr/>
              <a:t>21</a:t>
            </a:fld>
            <a:endParaRPr lang="en-US" altLang="en-US"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4716463"/>
            <a:ext cx="585216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 algn="ctr">
              <a:defRPr/>
            </a:pPr>
            <a:r>
              <a:rPr lang="en-US" dirty="0"/>
              <a:t>25,49,484,9409,2916,3844,5929,529,5329,3721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reduce()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2048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E5751F3-C0B2-4BBF-859C-0864859E5C15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0486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48ACF6-40F7-4DB1-AB51-DA9063DECA0D}" type="slidenum">
              <a:rPr lang="en-US" altLang="en-US">
                <a:cs typeface="Arial" charset="0"/>
              </a:rPr>
              <a:pPr/>
              <a:t>22</a:t>
            </a:fld>
            <a:endParaRPr lang="en-US" altLang="en-US">
              <a:cs typeface="Arial" charset="0"/>
            </a:endParaRPr>
          </a:p>
        </p:txBody>
      </p:sp>
      <p:sp>
        <p:nvSpPr>
          <p:cNvPr id="20487" name="Content Placeholder 1"/>
          <p:cNvSpPr>
            <a:spLocks noGrp="1"/>
          </p:cNvSpPr>
          <p:nvPr>
            <p:ph idx="1"/>
          </p:nvPr>
        </p:nvSpPr>
        <p:spPr>
          <a:xfrm>
            <a:off x="1005840" y="1600206"/>
            <a:ext cx="9418320" cy="4525963"/>
          </a:xfrm>
        </p:spPr>
        <p:txBody>
          <a:bodyPr/>
          <a:lstStyle/>
          <a:p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The reduce() function in Python takes in a function and a list as an argument. </a:t>
            </a:r>
          </a:p>
          <a:p>
            <a:pPr>
              <a:buFont typeface="Arial" charset="0"/>
              <a:buNone/>
            </a:pPr>
            <a:endParaRPr lang="en-US" altLang="en-US" sz="260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The function is called with a lambda function and an iterable and a new reduced result is returned. </a:t>
            </a:r>
          </a:p>
          <a:p>
            <a:endParaRPr lang="en-US" altLang="en-US" sz="260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This performs a repetitive operation over the pairs of the iterable. The reduce() function belongs to the  </a:t>
            </a:r>
            <a:r>
              <a:rPr lang="en-US" altLang="en-US" sz="2600" b="1" i="1">
                <a:latin typeface="Times New Roman" pitchFamily="18" charset="0"/>
                <a:cs typeface="Times New Roman" pitchFamily="18" charset="0"/>
              </a:rPr>
              <a:t>functools 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module.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reduce() Program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2150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F6CE59-8177-4F89-820C-1CE23E457662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1510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A14CCBF-7C91-40F7-AA9A-6560F406F54E}" type="slidenum">
              <a:rPr lang="en-US" altLang="en-US">
                <a:cs typeface="Arial" charset="0"/>
              </a:rPr>
              <a:pPr/>
              <a:t>23</a:t>
            </a:fld>
            <a:endParaRPr lang="en-US" altLang="en-US">
              <a:cs typeface="Arial" charset="0"/>
            </a:endParaRPr>
          </a:p>
        </p:txBody>
      </p:sp>
      <p:pic>
        <p:nvPicPr>
          <p:cNvPr id="21511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667"/>
          <a:stretch>
            <a:fillRect/>
          </a:stretch>
        </p:blipFill>
        <p:spPr>
          <a:xfrm>
            <a:off x="2560320" y="1676407"/>
            <a:ext cx="6675120" cy="2830513"/>
          </a:xfrm>
        </p:spPr>
      </p:pic>
      <p:sp>
        <p:nvSpPr>
          <p:cNvPr id="2" name="Rectangle 1"/>
          <p:cNvSpPr/>
          <p:nvPr/>
        </p:nvSpPr>
        <p:spPr>
          <a:xfrm>
            <a:off x="2834640" y="4953000"/>
            <a:ext cx="621792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 algn="ctr">
              <a:defRPr/>
            </a:pPr>
            <a:r>
              <a:rPr lang="en-US" dirty="0"/>
              <a:t>193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filter() 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2253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3B64A3-0C92-475E-B75D-DB99DFB04E99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2534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5087CAA-C525-4B87-B9AB-95D5E10673A2}" type="slidenum">
              <a:rPr lang="en-US" altLang="en-US">
                <a:cs typeface="Arial" charset="0"/>
              </a:rPr>
              <a:pPr/>
              <a:t>24</a:t>
            </a:fld>
            <a:endParaRPr lang="en-US" altLang="en-US">
              <a:cs typeface="Arial" charset="0"/>
            </a:endParaRPr>
          </a:p>
        </p:txBody>
      </p:sp>
      <p:sp>
        <p:nvSpPr>
          <p:cNvPr id="22535" name="Content Placeholder 1"/>
          <p:cNvSpPr>
            <a:spLocks noGrp="1"/>
          </p:cNvSpPr>
          <p:nvPr>
            <p:ph idx="1"/>
          </p:nvPr>
        </p:nvSpPr>
        <p:spPr>
          <a:xfrm>
            <a:off x="1097280" y="1600206"/>
            <a:ext cx="9326880" cy="4525963"/>
          </a:xfrm>
        </p:spPr>
        <p:txBody>
          <a:bodyPr/>
          <a:lstStyle/>
          <a:p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The filter() function in Python takes in a function and a list as arguments. </a:t>
            </a:r>
          </a:p>
          <a:p>
            <a:pPr>
              <a:buFont typeface="Arial" charset="0"/>
              <a:buNone/>
            </a:pPr>
            <a:endParaRPr lang="en-US" altLang="en-US" sz="260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This offers an elegant way to filter out all the elements of a sequence “sequence”, for which the function returns True.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45920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 filter() Program</a:t>
            </a:r>
            <a:r>
              <a:rPr lang="en-US" sz="2000" b="1" dirty="0"/>
              <a:t>(</a:t>
            </a:r>
            <a:r>
              <a:rPr lang="en-US" b="1" dirty="0"/>
              <a:t>CO2)</a:t>
            </a:r>
          </a:p>
        </p:txBody>
      </p:sp>
      <p:pic>
        <p:nvPicPr>
          <p:cNvPr id="2355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F68AFD-F3EE-4272-981C-F09B090384E4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3558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26353AC-899F-4DC5-977C-3C43F6F1A3C8}" type="slidenum">
              <a:rPr lang="en-US" altLang="en-US">
                <a:cs typeface="Arial" charset="0"/>
              </a:rPr>
              <a:pPr/>
              <a:t>25</a:t>
            </a:fld>
            <a:endParaRPr lang="en-US" altLang="en-US">
              <a:cs typeface="Arial" charset="0"/>
            </a:endParaRPr>
          </a:p>
        </p:txBody>
      </p:sp>
      <p:pic>
        <p:nvPicPr>
          <p:cNvPr id="23559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103120" y="1981207"/>
            <a:ext cx="7406640" cy="2392363"/>
          </a:xfrm>
        </p:spPr>
      </p:pic>
      <p:sp>
        <p:nvSpPr>
          <p:cNvPr id="2" name="Rectangle 1"/>
          <p:cNvSpPr/>
          <p:nvPr/>
        </p:nvSpPr>
        <p:spPr>
          <a:xfrm>
            <a:off x="2377440" y="4495800"/>
            <a:ext cx="713232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 algn="ctr">
              <a:defRPr/>
            </a:pPr>
            <a:r>
              <a:rPr lang="en-US" dirty="0"/>
              <a:t>5,7,97,77,23,73,61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71600" y="46038"/>
            <a:ext cx="94183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Comprehension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B445130-520B-4F4D-83C5-2C5BBEEB2F02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4582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06B96C-B66D-4472-AE39-64858F888A6D}" type="slidenum">
              <a:rPr lang="en-US" altLang="en-US">
                <a:cs typeface="Arial" charset="0"/>
              </a:rPr>
              <a:pPr/>
              <a:t>26</a:t>
            </a:fld>
            <a:endParaRPr lang="en-US" altLang="en-US">
              <a:cs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8640" y="1066807"/>
            <a:ext cx="9875520" cy="505936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Python provides compact syntax for deriving one list from another. These expressions are called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list comprehensions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Arial" pitchFamily="34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List comprehensions are one of the most powerful tools in Python. Python’s list comprehension is an example of the language’s support for functional programming concepts.</a:t>
            </a:r>
          </a:p>
          <a:p>
            <a:pPr>
              <a:buFont typeface="Arial" pitchFamily="34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Python list comprehensions are a very easy way to apply a function or filter to a list of items. List comprehensions can be very useful if used correctly but very unreadable if you're not careful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71600" y="46038"/>
            <a:ext cx="94183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Comprehension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11B06D4-8E2B-4F59-9A2B-F91B014C0364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5606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B7E691-429B-4875-9489-E3C4DFF88A64}" type="slidenum">
              <a:rPr lang="en-US" altLang="en-US">
                <a:cs typeface="Arial" charset="0"/>
              </a:rPr>
              <a:pPr/>
              <a:t>27</a:t>
            </a:fld>
            <a:endParaRPr lang="en-US" altLang="en-US">
              <a:cs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8640" y="1066807"/>
            <a:ext cx="9875520" cy="5059363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general syntax of list comprehensions is −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expr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for element in iterable if condition]</a:t>
            </a:r>
          </a:p>
          <a:p>
            <a:pPr>
              <a:buFont typeface="Arial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Above is equivalent to −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  for element in iterable:  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 if condition: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      	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expr</a:t>
            </a:r>
            <a:endParaRPr lang="en-US" dirty="0"/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54480" y="0"/>
            <a:ext cx="94183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List Comprehension vs For Loop</a:t>
            </a:r>
          </a:p>
        </p:txBody>
      </p:sp>
      <p:pic>
        <p:nvPicPr>
          <p:cNvPr id="2662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58CA600-BAE9-4D73-9FB6-8F1588C0547E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6630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2DF5C86-FFB8-41D2-A26D-62B68FD90070}" type="slidenum">
              <a:rPr lang="en-US" altLang="en-US">
                <a:cs typeface="Arial" charset="0"/>
              </a:rPr>
              <a:pPr/>
              <a:t>28</a:t>
            </a:fld>
            <a:endParaRPr lang="en-US" altLang="en-US">
              <a:cs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8640" y="1066800"/>
            <a:ext cx="9875520" cy="5165725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#USING FOR LOOP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evens = []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in range(10):   </a:t>
            </a:r>
          </a:p>
          <a:p>
            <a:pPr marL="457200" lvl="1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 if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% 2 == 0:       </a:t>
            </a:r>
          </a:p>
          <a:p>
            <a:pPr marL="457200" lvl="1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evens. append(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457200" lvl="1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print(evens)</a:t>
            </a:r>
          </a:p>
          <a:p>
            <a:pPr marL="457200" lvl="1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 better and faster way to write the above code is through list comprehension.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[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in range(10) if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% 2 ==0]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295400"/>
            <a:ext cx="329184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[0, 2, 4, 6, 8]</a:t>
            </a:r>
          </a:p>
          <a:p>
            <a:pPr algn="ctr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75120" y="4800600"/>
            <a:ext cx="329184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[0, 2, 4, 6, 8]</a:t>
            </a:r>
          </a:p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2096" y="65088"/>
            <a:ext cx="94183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List comprehensions vs lambda function</a:t>
            </a:r>
          </a:p>
        </p:txBody>
      </p:sp>
      <p:pic>
        <p:nvPicPr>
          <p:cNvPr id="2765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5459F22-1371-433B-9056-2981CA94558F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7654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C6C00E0-E334-4EF9-BFC2-7C9ABCD9C3AC}" type="slidenum">
              <a:rPr lang="en-US" altLang="en-US">
                <a:cs typeface="Arial" charset="0"/>
              </a:rPr>
              <a:pPr/>
              <a:t>29</a:t>
            </a:fld>
            <a:endParaRPr lang="en-US" altLang="en-US">
              <a:cs typeface="Arial" charset="0"/>
            </a:endParaRPr>
          </a:p>
        </p:txBody>
      </p:sp>
      <p:sp>
        <p:nvSpPr>
          <p:cNvPr id="27655" name="Content Placeholder 1"/>
          <p:cNvSpPr>
            <a:spLocks noGrp="1"/>
          </p:cNvSpPr>
          <p:nvPr>
            <p:ph idx="1"/>
          </p:nvPr>
        </p:nvSpPr>
        <p:spPr>
          <a:xfrm>
            <a:off x="548640" y="1066800"/>
            <a:ext cx="9875520" cy="5165725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List comprehensions are clearer than the map built-in function for simple cases. the map requires creating a lambda function for the computation, which is visually noisy.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lst = [1, 2, 3, 4, 5, 6, 7, 8, 9, 10]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 &gt;&gt;&gt; list(map(lambda x: x**2, lst)) </a:t>
            </a: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45030" y="4343400"/>
            <a:ext cx="621792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4, 9, 16, 25, 36, 49, 64, 81, 100]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54480" y="65088"/>
            <a:ext cx="923544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List comprehensions with conditional expression</a:t>
            </a:r>
          </a:p>
        </p:txBody>
      </p:sp>
      <p:pic>
        <p:nvPicPr>
          <p:cNvPr id="2867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5C1141-B5C1-4EF6-A996-F32261E12F34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03120" y="6356357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8678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368320-4291-4A89-B259-EF582A4E9FE7}" type="slidenum">
              <a:rPr lang="en-US" altLang="en-US">
                <a:cs typeface="Arial" charset="0"/>
              </a:rPr>
              <a:pPr/>
              <a:t>30</a:t>
            </a:fld>
            <a:endParaRPr lang="en-US" altLang="en-US">
              <a:cs typeface="Arial" charset="0"/>
            </a:endParaRPr>
          </a:p>
        </p:txBody>
      </p:sp>
      <p:sp>
        <p:nvSpPr>
          <p:cNvPr id="28679" name="Content Placeholder 1"/>
          <p:cNvSpPr>
            <a:spLocks noGrp="1"/>
          </p:cNvSpPr>
          <p:nvPr>
            <p:ph idx="1"/>
          </p:nvPr>
        </p:nvSpPr>
        <p:spPr>
          <a:xfrm>
            <a:off x="548640" y="750888"/>
            <a:ext cx="10058400" cy="5726112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altLang="en-US" sz="2600" b="1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Font typeface="Arial" charset="0"/>
              <a:buNone/>
            </a:pPr>
            <a:endParaRPr lang="en-IN" altLang="en-US" sz="2600" b="1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when you only want to compute the squares of the numbers that are divisible by 2. 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−&gt;&gt;&gt; lst=[1, 2, 3, 4, 5, 6, 7, 8, 9, 10] 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even_squares = [x**2 for x in lst if x % 2 == 0] 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print(even_squares) </a:t>
            </a: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endParaRPr lang="en-IN" altLang="en-US" sz="2400" b="1"/>
          </a:p>
          <a:p>
            <a:pPr marL="0" indent="0">
              <a:buFont typeface="Arial" charset="0"/>
              <a:buNone/>
            </a:pPr>
            <a:endParaRPr lang="en-IN" altLang="en-US" sz="2400"/>
          </a:p>
        </p:txBody>
      </p:sp>
      <p:sp>
        <p:nvSpPr>
          <p:cNvPr id="2" name="Rectangle 1"/>
          <p:cNvSpPr/>
          <p:nvPr/>
        </p:nvSpPr>
        <p:spPr>
          <a:xfrm>
            <a:off x="2651760" y="4600575"/>
            <a:ext cx="4572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 16, 36, 64, 100]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00206"/>
            <a:ext cx="9784080" cy="452596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sz="2600">
                <a:latin typeface="Times New Roman" pitchFamily="18" charset="0"/>
                <a:cs typeface="Times New Roman" pitchFamily="18" charset="0"/>
              </a:rPr>
              <a:t># a list of even numbers between 1 and 100 </a:t>
            </a:r>
          </a:p>
          <a:p>
            <a:pPr marL="0" indent="0">
              <a:buFont typeface="Arial" charset="0"/>
              <a:buNone/>
            </a:pPr>
            <a:endParaRPr lang="en-IN" sz="26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IN" sz="2600">
                <a:latin typeface="Times New Roman" pitchFamily="18" charset="0"/>
                <a:cs typeface="Times New Roman" pitchFamily="18" charset="0"/>
              </a:rPr>
              <a:t>&gt;&gt;&gt; evens = [i for i in range(1,100) if not i % 2] </a:t>
            </a:r>
          </a:p>
          <a:p>
            <a:pPr marL="0" indent="0">
              <a:buFont typeface="Arial" charset="0"/>
              <a:buNone/>
            </a:pPr>
            <a:r>
              <a:rPr lang="en-IN" sz="2600">
                <a:latin typeface="Times New Roman" pitchFamily="18" charset="0"/>
                <a:cs typeface="Times New Roman" pitchFamily="18" charset="0"/>
              </a:rPr>
              <a:t>&gt; &gt;&gt;print(evens) </a:t>
            </a:r>
          </a:p>
          <a:p>
            <a:pPr marL="0" indent="0">
              <a:buFont typeface="Arial" charset="0"/>
              <a:buNone/>
            </a:pPr>
            <a:endParaRPr lang="en-IN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C356EE-BB4E-47B7-AB46-D095418A8B78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49040" y="6324607"/>
            <a:ext cx="4937760" cy="3968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2970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1AB79F-865F-4819-83D0-3BAAF7142579}" type="slidenum">
              <a:rPr lang="en-US" altLang="en-US">
                <a:cs typeface="Arial" charset="0"/>
              </a:rPr>
              <a:pPr/>
              <a:t>31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List comprehensions with conditional expression</a:t>
            </a:r>
          </a:p>
        </p:txBody>
      </p:sp>
      <p:pic>
        <p:nvPicPr>
          <p:cNvPr id="2970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737360" y="3862388"/>
            <a:ext cx="50292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>
              <a:buFont typeface="Arial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[2, 4, 6, 8, 10, 12, 14, 16, 18, 20, 22, 24, 26, 28, 30, 32, 34, 36, 38, 40, 42, 44, 46, 48, 50, 52, 54, 56, 58, 60, 62, 64, 66, 68, 70, 72, 74, 76, 78, 80, 82, 84, 86, 88, 90, 92, 94, 96, 98]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548640" y="1219205"/>
            <a:ext cx="9875520" cy="490696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num_list = [y for y in range(100) if y % 2 == 0 if y % 5 == 0] 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print(num_list)</a:t>
            </a: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21A61F-93A9-4436-BFE9-8CB7F3733CB8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49040" y="6324607"/>
            <a:ext cx="4663440" cy="3968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072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336669-9946-4F18-B240-45CF66D9FA7D}" type="slidenum">
              <a:rPr lang="en-US" altLang="en-US">
                <a:cs typeface="Arial" charset="0"/>
              </a:rPr>
              <a:pPr/>
              <a:t>32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5456" y="1873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Nested IF with List Comprehension</a:t>
            </a:r>
          </a:p>
        </p:txBody>
      </p:sp>
      <p:pic>
        <p:nvPicPr>
          <p:cNvPr id="3072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828800" y="3648075"/>
            <a:ext cx="603504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10, 20, 30, 40, 50, 60, 70, 80, 90]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548640" y="1219205"/>
            <a:ext cx="9875520" cy="490696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obj = ["Even" if i%2==0 else "Odd" for i in range(10)] </a:t>
            </a:r>
          </a:p>
          <a:p>
            <a:pPr marL="0" indent="0">
              <a:buFont typeface="Arial" charset="0"/>
              <a:buNone/>
            </a:pPr>
            <a:r>
              <a:rPr lang="en-IN" altLang="en-US" sz="2600">
                <a:latin typeface="Times New Roman" pitchFamily="18" charset="0"/>
                <a:cs typeface="Times New Roman" pitchFamily="18" charset="0"/>
              </a:rPr>
              <a:t>&gt;&gt;&gt; print(obj) </a:t>
            </a:r>
          </a:p>
          <a:p>
            <a:pPr marL="0" indent="0">
              <a:buFont typeface="Arial" charset="0"/>
              <a:buNone/>
            </a:pPr>
            <a:endParaRPr lang="en-IN" altLang="en-US"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35E77C6-076C-44DE-B2B6-239F23FEBF2D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49040" y="6324607"/>
            <a:ext cx="5029200" cy="3968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174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E4B9C33-6A2B-42AF-9DD3-F07603D389B2}" type="slidenum">
              <a:rPr lang="en-US" altLang="en-US">
                <a:cs typeface="Arial" charset="0"/>
              </a:rPr>
              <a:pPr/>
              <a:t>33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5456" y="1873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if...else With List Comprehension</a:t>
            </a:r>
          </a:p>
        </p:txBody>
      </p:sp>
      <p:pic>
        <p:nvPicPr>
          <p:cNvPr id="3175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103120" y="3886200"/>
            <a:ext cx="557784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['Even', 'Odd', 'Even', 'Odd', 'Even', 'Odd', 'Even', 'Odd', 'Even', 'Odd']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946150"/>
            <a:ext cx="10515600" cy="5607050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List comprehensions offer a concise way to create lists based on existing lists.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When using list comprehensions, lists can be built by leveraging any iterable, including strings and tuples.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List comprehensions consist of an iterable containing an expression followed by a for the clause. This can be followed by additional for or if clauses.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Let’s look at an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that creates a list based on a string: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hello_letters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= [letter for letter in 'hello’]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&gt;&gt;&gt; print(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hello_letters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33C9FA6-5AA8-49AC-8325-266744FA0B2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51760" y="6356357"/>
            <a:ext cx="70408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277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FF7313-A077-4A5D-B66F-2CC5A275E5A3}" type="slidenum">
              <a:rPr lang="en-US" altLang="en-US">
                <a:cs typeface="Arial" charset="0"/>
              </a:rPr>
              <a:pPr/>
              <a:t>34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for-loop to list comprehension?</a:t>
            </a:r>
          </a:p>
        </p:txBody>
      </p:sp>
      <p:pic>
        <p:nvPicPr>
          <p:cNvPr id="3277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937760" y="5248275"/>
            <a:ext cx="310896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['h', 'e', 'l', 'l', 'o’]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946150"/>
            <a:ext cx="10515600" cy="560705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String hello is iterable and the letter is assigned a new value every time this loop iterates. This list comprehension is equivalent to: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&gt;&gt;&gt; </a:t>
            </a:r>
            <a:r>
              <a:rPr lang="en-IN" sz="2600" dirty="0" err="1">
                <a:latin typeface="Times New Roman" pitchFamily="18" charset="0"/>
                <a:cs typeface="Times New Roman" pitchFamily="18" charset="0"/>
              </a:rPr>
              <a:t>hello_letters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= []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&gt;&gt;&gt; for letter in 'hello':    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&gt;&gt;&gt; 	</a:t>
            </a:r>
            <a:r>
              <a:rPr lang="en-IN" sz="2600" dirty="0" err="1">
                <a:latin typeface="Times New Roman" pitchFamily="18" charset="0"/>
                <a:cs typeface="Times New Roman" pitchFamily="18" charset="0"/>
              </a:rPr>
              <a:t>hello_letters.append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(letter)</a:t>
            </a:r>
            <a:endParaRPr lang="en-IN" sz="2600" dirty="0">
              <a:solidFill>
                <a:schemeClr val="tx2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0F9D1EF-4140-437F-9BA7-76A1CD33675E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51760" y="6356357"/>
            <a:ext cx="70408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379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9905120-798D-4664-A9D3-690F1E199D11}" type="slidenum">
              <a:rPr lang="en-US" altLang="en-US">
                <a:cs typeface="Arial" charset="0"/>
              </a:rPr>
              <a:pPr/>
              <a:t>35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for-loop to list comprehension? (cont.)</a:t>
            </a:r>
          </a:p>
        </p:txBody>
      </p:sp>
      <p:pic>
        <p:nvPicPr>
          <p:cNvPr id="3379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65760" y="946150"/>
            <a:ext cx="10515600" cy="560705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We need to compute the transpose of a matrix that requires nested for loop. Let’s see how it is done using normal for loop first.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Transpose of Matrix using Nested Loops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transposed = []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matrix = [[1, 2, 3, 4], [4, 5, 6, 8]]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for i in range(len(matrix[0])):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transposed_row = []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for row in matrix: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transposed_row.append(row[i]) 	transposed.append(transposed_row) </a:t>
            </a:r>
          </a:p>
          <a:p>
            <a:pPr marL="0" indent="0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print(transposed)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92884A-CAEF-4974-8CF9-31E65A54178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1680" y="6356357"/>
            <a:ext cx="676656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482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65D83E-E665-4D33-B62B-D1B10713409B}" type="slidenum">
              <a:rPr lang="en-US" altLang="en-US">
                <a:cs typeface="Arial" charset="0"/>
              </a:rPr>
              <a:pPr/>
              <a:t>36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Nested Loops in List Comprehension</a:t>
            </a:r>
          </a:p>
        </p:txBody>
      </p:sp>
      <p:pic>
        <p:nvPicPr>
          <p:cNvPr id="3482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486400" y="5410200"/>
            <a:ext cx="521208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[[1, 4], [2, 5], [3, 6], [4, 8]]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We can also perform nested iteration inside a list comprehension. In this section, we will find transpose of a matrix using nested loop inside list comprehension.’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 Transpose of a Matrix using List Comprehension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matrix = [[1, 2], [3,4], [5,6], [7,8]]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transpose = [[row[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] for row in matrix] for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in range(2)]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print (transpose)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362B2C3-AED2-432A-9357-C1CA8C4528A3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7360" y="6356357"/>
            <a:ext cx="74980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584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620AAB6-7B24-4A25-8A5D-A1422DD9D42D}" type="slidenum">
              <a:rPr lang="en-US" altLang="en-US">
                <a:cs typeface="Arial" charset="0"/>
              </a:rPr>
              <a:pPr/>
              <a:t>37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37360" y="136530"/>
            <a:ext cx="9144000" cy="7016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Nested Loops in List Comprehension</a:t>
            </a:r>
          </a:p>
        </p:txBody>
      </p:sp>
      <p:pic>
        <p:nvPicPr>
          <p:cNvPr id="3584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463040" y="5029200"/>
            <a:ext cx="46634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[[1, 3, 5, 7], [2, 4, 6, 8]]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43006"/>
            <a:ext cx="9875520" cy="498316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We need the key: value pairs to create a dictionary. To get these key-value pairs using dictionary comprehension the general statement of dictionary comprehension is as follows: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           {key: value for ___ in iterable}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Let's see how to generate numbers as keys and their squares as values within the range of 10. Our result should look like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{0: 0, 1: 1, 2: 4, 3: 9, 4: 16, 5: 25, 6: 36, 7: 49, 8: 64, 9: 81}.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 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For this result the below code is as follows:-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A32F882-26C8-4FBF-BB2F-098888B1E19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686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888D746-382D-4E61-A21E-D8CB2F2FB704}" type="slidenum">
              <a:rPr lang="en-US" altLang="en-US">
                <a:cs typeface="Arial" charset="0"/>
              </a:rPr>
              <a:pPr/>
              <a:t>38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Dictionary Comprehension</a:t>
            </a:r>
          </a:p>
        </p:txBody>
      </p:sp>
      <p:pic>
        <p:nvPicPr>
          <p:cNvPr id="3687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0"/>
            <a:ext cx="10515600" cy="561340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# creating the dictionary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squares = {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** 2 for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in range(10)}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print(squares)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200" dirty="0">
              <a:solidFill>
                <a:schemeClr val="tx2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Let's see how to create a dictionary from 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[1, 2, 3, 4, 5]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[a, b, c, d, e].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# keys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keys = ['a', 'b', 'c', 'd', 'e’]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# values values = [1, 2, 3, 4, 5] </a:t>
            </a:r>
          </a:p>
          <a:p>
            <a:pPr marL="0" indent="0">
              <a:buFont typeface="Arial" pitchFamily="34" charset="0"/>
              <a:buNone/>
              <a:tabLst>
                <a:tab pos="5543550" algn="l"/>
              </a:tabLst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# creating a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from the above lists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dictionary = {key: value for (key, value) in zip(keys, values)}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print(dictionary)</a:t>
            </a:r>
          </a:p>
          <a:p>
            <a:pPr marL="0" indent="0">
              <a:buFont typeface="Arial" pitchFamily="34" charset="0"/>
              <a:buNone/>
              <a:defRPr/>
            </a:pPr>
            <a:br>
              <a:rPr lang="en-IN" sz="2400" dirty="0"/>
            </a:b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C641F8-DB6C-455D-826A-E6CFB0197C0F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789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1F19DC-41F7-422C-B8D0-4E141CCC75CB}" type="slidenum">
              <a:rPr lang="en-US" altLang="en-US">
                <a:cs typeface="Arial" charset="0"/>
              </a:rPr>
              <a:pPr/>
              <a:t>39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Dictionary Comprehension</a:t>
            </a:r>
          </a:p>
        </p:txBody>
      </p:sp>
      <p:pic>
        <p:nvPicPr>
          <p:cNvPr id="3789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303520" y="1752600"/>
            <a:ext cx="530352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{0: 0, 1: 1, 2: 4, 3: 9, 4: 16, 5: 25, 6: 36, 7: 49, 8: 64, 9: 81}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92240" y="5334000"/>
            <a:ext cx="3657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{0: 'a', 1: 'b', 2: 'c', 3: 'd', 4: 'e'}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Every variable in python holds an instance of an object. There are two types of objects in python i.e.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Mutable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Immutable objects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Whenever an object is instantiated, it is assigned a unique object id. The type of the object is defined at the runtime and it can’t be changed afterwards. However, it’s state can be changed if it is a mutable object.</a:t>
            </a:r>
          </a:p>
          <a:p>
            <a:pPr>
              <a:buFont typeface="Arial" pitchFamily="34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summarize the difference, mutable objects can change their state or contents and immutable objects can’t change their state or content.</a:t>
            </a:r>
          </a:p>
          <a:p>
            <a:pPr>
              <a:buFont typeface="Arial" pitchFamily="34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python, the string data types are immutable. Which means a string value cannot be updated. We can verify this by trying to update a part of the string which will led us to an error.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D85C218-9D68-4FA5-858A-EC042A363B7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891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EC3ADE7-0D3D-46E5-B969-EB8D8005C5AE}" type="slidenum">
              <a:rPr lang="en-US" altLang="en-US">
                <a:cs typeface="Arial" charset="0"/>
              </a:rPr>
              <a:pPr/>
              <a:t>40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IMMUTABILITY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891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# Can not reassign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t= “Mumbai" </a:t>
            </a:r>
          </a:p>
          <a:p>
            <a:pPr>
              <a:buFont typeface="Arial" pitchFamily="34" charset="0"/>
              <a:buNone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print type(t)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t[0] = “P”.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When we run the above program, we get the following output −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t[0] = "M" </a:t>
            </a:r>
            <a:r>
              <a:rPr lang="en-US" sz="26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TypeError</a:t>
            </a:r>
            <a:r>
              <a:rPr 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'str' object does not support item assignment</a:t>
            </a:r>
          </a:p>
          <a:p>
            <a:pPr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762997-575E-476E-AF85-4235EDBB713C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3994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E73ABB-96A8-4060-B6E8-E2FC5D8F6C6F}" type="slidenum">
              <a:rPr lang="en-US" altLang="en-US">
                <a:cs typeface="Arial" charset="0"/>
              </a:rPr>
              <a:pPr/>
              <a:t>41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IMMUTABILITY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4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tabLst>
                <a:tab pos="398463" algn="l"/>
              </a:tabLs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We can further verify this by checking the memory location address of the position of the letters of the string.  </a:t>
            </a:r>
          </a:p>
          <a:p>
            <a:pPr marL="0" indent="0">
              <a:buFont typeface="Arial" pitchFamily="34" charset="0"/>
              <a:buNone/>
              <a:tabLst>
                <a:tab pos="398463" algn="l"/>
              </a:tabLs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x = 'banana' for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idx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in range (0,5):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print x[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idx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], "=", id(x[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idx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])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When we run the above program we get to see that N and N also point to the same location</a:t>
            </a:r>
          </a:p>
          <a:p>
            <a:pPr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A98AF3-40B4-416D-8474-0D36512095C6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096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BBC090B-5CD2-4E70-84D9-A9C34DE035A8}" type="slidenum">
              <a:rPr lang="en-US" altLang="en-US">
                <a:cs typeface="Arial" charset="0"/>
              </a:rPr>
              <a:pPr/>
              <a:t>42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IMMUTABILITY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6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524000"/>
            <a:ext cx="10515600" cy="4648200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nested function which has access to a free variable from an enclosing function that has finished its execution. Three characteristics of a Python closure are: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a nested function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has access to a free variable in outer scope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returned from the enclosing function</a:t>
            </a:r>
          </a:p>
          <a:p>
            <a:pPr lvl="1">
              <a:buFont typeface="Arial" pitchFamily="34" charset="0"/>
              <a:buChar char="–"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free variable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a variable that is not bound in the local scope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Python closures help avoiding the usage of global values and provide some form of data hiding. </a:t>
            </a:r>
          </a:p>
          <a:p>
            <a:pPr>
              <a:buFont typeface="Arial" pitchFamily="34" charset="0"/>
              <a:buNone/>
              <a:defRPr/>
            </a:pPr>
            <a:endParaRPr lang="en-US" sz="2400" dirty="0"/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C219315-C071-47A8-A212-2EA29789D379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198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06CE30F-68FB-4951-BA67-8F00F97A948F}" type="slidenum">
              <a:rPr lang="en-US" altLang="en-US">
                <a:cs typeface="Arial" charset="0"/>
              </a:rPr>
              <a:pPr/>
              <a:t>43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199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When we define a function inside of another, the inner function is said to be nested inside the outer one. Let’s take an </a:t>
            </a:r>
            <a:r>
              <a:rPr lang="en-US" sz="2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example.</a:t>
            </a:r>
          </a:p>
          <a:p>
            <a:pPr>
              <a:buFont typeface="Arial" pitchFamily="34" charset="0"/>
              <a:buNone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outerfunc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(x):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		def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	print(x)			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outerfunc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(7)</a:t>
            </a:r>
            <a:endParaRPr lang="en-US" sz="2600" dirty="0"/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5BAD7B1-7BCC-41F4-8F30-412B0891916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301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42CDAC-8943-45D0-A478-DEC51930C904}" type="slidenum">
              <a:rPr lang="en-US" altLang="en-US">
                <a:cs typeface="Arial" charset="0"/>
              </a:rPr>
              <a:pPr/>
              <a:t>44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301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7223760" y="4876800"/>
            <a:ext cx="283464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 algn="ctr">
              <a:defRPr/>
            </a:pPr>
            <a:r>
              <a:rPr lang="en-US" dirty="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could read the variable ‘x’, which is nonlocal to it. And if it must modify ‘x’, we declare that it’s nonlocal to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Let’s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define a closure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(x):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():			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print(x)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return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#Return the object instead of calling the function</a:t>
            </a:r>
          </a:p>
          <a:p>
            <a:pPr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(7)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1674704-6CB9-437F-A9EB-4126313223C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403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F269496-0E2C-4219-8108-134F692D9D48}" type="slidenum">
              <a:rPr lang="en-US" altLang="en-US">
                <a:cs typeface="Arial" charset="0"/>
              </a:rPr>
              <a:pPr/>
              <a:t>45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403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7223760" y="4953000"/>
            <a:ext cx="256032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 algn="ctr">
              <a:defRPr/>
            </a:pPr>
            <a:r>
              <a:rPr lang="en-US" dirty="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point to note here is that instead of calling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here, we returned it (the object).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Once we’ve defined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(), we call it with the argument 7 and store it in variable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when we call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myfunc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next, how does it remember that ‘x’ is 7?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A Python3 closure is when some data gets attached to the code.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So, this value is remembered even when the variable goes out of scope, or the function is removed from the namespace.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9F6130-364C-43F9-960B-15D1E78E4BF4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506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543FDF-3D2F-4DEE-8053-95E87650362B}" type="slidenum">
              <a:rPr lang="en-US" altLang="en-US">
                <a:cs typeface="Arial" charset="0"/>
              </a:rPr>
              <a:pPr/>
              <a:t>46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506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Python closure is used when a nested function references a value in its enclosing scope.</a:t>
            </a:r>
          </a:p>
          <a:p>
            <a:pPr>
              <a:buFont typeface="Arial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conditions must be met: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1. We must have a nested function.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2. This nested function must refer to a variable nonlocal to it(a variable in the scope enclosing it).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3. The enclosing scope must return this function.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3188BB-6F04-49DD-A555-4037ADE18D86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608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5FFAD33-00B3-47AC-80DE-E520855EDA41}" type="slidenum">
              <a:rPr lang="en-US" altLang="en-US">
                <a:cs typeface="Arial" charset="0"/>
              </a:rPr>
              <a:pPr/>
              <a:t>47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608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16002"/>
            <a:ext cx="10515600" cy="5268913"/>
          </a:xfrm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While it seems like a very simple concept, a closure in python3 helps us in the following ways: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Python closure, we don’t need to use global values. This is because they let us refer to nonlocal variables. A closure then provides some form of data hiding.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we have only a few Python methods (usually, only one), we may use a Python3 closure instead of implementing a class for that. This makes it easier on the programmer.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closure, lets us implement a Python decorator.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closure lets us invoke Python function outside its scope.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78FDC8-5DB2-4EF9-9939-E09A7CA4404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4710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B1B0E-88AA-43FE-8647-06DD3F2BE0EC}" type="slidenum">
              <a:rPr lang="en-US" altLang="en-US">
                <a:cs typeface="Arial" charset="0"/>
              </a:rPr>
              <a:pPr/>
              <a:t>48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Benefits of Python Closure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4711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DA17BC4-8E86-47D7-B5F3-10A0A79E8EB1}" type="datetime1">
              <a:rPr lang="en-US" smtClean="0"/>
              <a:t>5/9/2023</a:t>
            </a:fld>
            <a:endParaRPr lang="en-US"/>
          </a:p>
        </p:txBody>
      </p:sp>
      <p:sp>
        <p:nvSpPr>
          <p:cNvPr id="481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3B7DAB-A849-454C-AEF2-82FA54BCFBF4}" type="slidenum">
              <a:rPr lang="en-US" altLang="en-US">
                <a:cs typeface="Arial" charset="0"/>
              </a:rPr>
              <a:pPr/>
              <a:t>49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28776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Decorators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(CO3</a:t>
            </a:r>
            <a:r>
              <a:rPr lang="en-US" sz="3200" dirty="0"/>
              <a:t>)</a:t>
            </a:r>
            <a:endParaRPr lang="en-IN" sz="3200" dirty="0"/>
          </a:p>
        </p:txBody>
      </p:sp>
      <p:pic>
        <p:nvPicPr>
          <p:cNvPr id="4813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3" name="Content Placeholder 9"/>
          <p:cNvSpPr>
            <a:spLocks noGrp="1"/>
          </p:cNvSpPr>
          <p:nvPr>
            <p:ph idx="1"/>
          </p:nvPr>
        </p:nvSpPr>
        <p:spPr>
          <a:xfrm>
            <a:off x="548640" y="714378"/>
            <a:ext cx="9875520" cy="5838825"/>
          </a:xfrm>
        </p:spPr>
        <p:txBody>
          <a:bodyPr/>
          <a:lstStyle/>
          <a:p>
            <a:pPr lvl="1" algn="just">
              <a:buFont typeface="Arial" charset="0"/>
              <a:buChar char="•"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A decorator is a design pattern in Python that allows a user to add new functionality to an existing object without modifying its structure.</a:t>
            </a:r>
          </a:p>
          <a:p>
            <a:pPr lvl="1" algn="just">
              <a:buFont typeface="Arial" charset="0"/>
              <a:buChar char="•"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Decorators are usually called before the definition of a function.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def uppercase_decorator(function):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def wrapper():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	func = function()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	make_uppercase=func.upper()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	 return make_uppercase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return wrapper</a:t>
            </a:r>
          </a:p>
          <a:p>
            <a:pPr lvl="1" algn="just">
              <a:buFont typeface="Arial" charset="0"/>
              <a:buNone/>
            </a:pPr>
            <a:r>
              <a:rPr lang="en-IN" altLang="en-US" sz="2400" b="1"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Our decorator function takes a function as an argument, therefore, define a function and pass it to our decorator.</a:t>
            </a:r>
          </a:p>
          <a:p>
            <a:pPr lvl="1" algn="just">
              <a:buFont typeface="Arial" charset="0"/>
              <a:buChar char="•"/>
            </a:pPr>
            <a:endParaRPr lang="en-IN" altLang="en-US" sz="2400"/>
          </a:p>
          <a:p>
            <a:pPr lvl="1" algn="just">
              <a:buFont typeface="Arial" charset="0"/>
              <a:buChar char="•"/>
            </a:pPr>
            <a:endParaRPr lang="en-IN" altLang="en-US" sz="24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86EF6F-CDC6-4795-815B-0A4AB685FD5E}" type="datetime1">
              <a:rPr lang="en-US" smtClean="0"/>
              <a:t>5/9/2023</a:t>
            </a:fld>
            <a:endParaRPr lang="en-US"/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4924F2-4A47-4D4D-AA04-F903926D186A}" type="slidenum">
              <a:rPr lang="en-US" altLang="en-US">
                <a:cs typeface="Arial" charset="0"/>
              </a:rPr>
              <a:pPr/>
              <a:t>50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28776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Call of Decorators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(CO3)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915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Content Placeholder 9"/>
          <p:cNvSpPr>
            <a:spLocks noGrp="1"/>
          </p:cNvSpPr>
          <p:nvPr>
            <p:ph idx="1"/>
          </p:nvPr>
        </p:nvSpPr>
        <p:spPr>
          <a:xfrm>
            <a:off x="548640" y="1214445"/>
            <a:ext cx="9875520" cy="4643437"/>
          </a:xfrm>
        </p:spPr>
        <p:txBody>
          <a:bodyPr/>
          <a:lstStyle/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say_hi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	return 'hello there'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decorate = 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uppercase_decorator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say_hi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 algn="just">
              <a:buFont typeface="Arial" charset="0"/>
              <a:buNone/>
            </a:pPr>
            <a:endParaRPr lang="en-IN" alt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endParaRPr lang="en-IN" alt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decorate()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9451" y="4000507"/>
            <a:ext cx="2828926" cy="8302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Output:</a:t>
            </a:r>
          </a:p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‘HELLO THERE’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658D79-F5C0-4CAE-B099-0F709CAAE37D}" type="datetime1">
              <a:rPr lang="en-US" smtClean="0"/>
              <a:t>5/9/2023</a:t>
            </a:fld>
            <a:endParaRPr lang="en-US"/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852697-D6A5-424F-ADC3-FF12A17B964C}" type="slidenum">
              <a:rPr lang="en-US" altLang="en-US">
                <a:cs typeface="Arial" charset="0"/>
              </a:rPr>
              <a:pPr/>
              <a:t>51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28776" y="0"/>
            <a:ext cx="932688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Call of Decorators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(CO3)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018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1" name="Content Placeholder 9"/>
          <p:cNvSpPr>
            <a:spLocks noGrp="1"/>
          </p:cNvSpPr>
          <p:nvPr>
            <p:ph idx="1"/>
          </p:nvPr>
        </p:nvSpPr>
        <p:spPr>
          <a:xfrm>
            <a:off x="548640" y="1214445"/>
            <a:ext cx="9875520" cy="4643437"/>
          </a:xfrm>
        </p:spPr>
        <p:txBody>
          <a:bodyPr/>
          <a:lstStyle/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# call  of decoratots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@uppercase_decorator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def say_hi():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return 'hello there‘</a:t>
            </a:r>
          </a:p>
          <a:p>
            <a:pPr lvl="1" algn="just">
              <a:buFont typeface="Arial" charset="0"/>
              <a:buNone/>
            </a:pPr>
            <a:endParaRPr lang="en-IN" altLang="en-US" sz="240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endParaRPr lang="en-IN" altLang="en-US" sz="240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 say_hi()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9451" y="4000507"/>
            <a:ext cx="2828926" cy="8302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Output:</a:t>
            </a:r>
          </a:p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‘HELLO THERE’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EFDD3D-A595-492C-A34B-02E5E1D56717}" type="datetime1">
              <a:rPr lang="en-US" smtClean="0"/>
              <a:t>5/9/2023</a:t>
            </a:fld>
            <a:endParaRPr lang="en-US"/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F6BE54-DBAB-4623-AF68-E958461F9DE9}" type="slidenum">
              <a:rPr lang="en-US" altLang="en-US">
                <a:cs typeface="Arial" charset="0"/>
              </a:rPr>
              <a:pPr/>
              <a:t>52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28776" y="7"/>
            <a:ext cx="9326880" cy="78581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Applying Multiple Decorators to a Single Function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(CO3)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0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5" name="Content Placeholder 9"/>
          <p:cNvSpPr>
            <a:spLocks noGrp="1"/>
          </p:cNvSpPr>
          <p:nvPr>
            <p:ph idx="1"/>
          </p:nvPr>
        </p:nvSpPr>
        <p:spPr>
          <a:xfrm>
            <a:off x="548640" y="1214438"/>
            <a:ext cx="9875520" cy="4957762"/>
          </a:xfrm>
        </p:spPr>
        <p:txBody>
          <a:bodyPr/>
          <a:lstStyle/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split_str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(function):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	def wrapper():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func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 = function()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split_str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func.split</a:t>
            </a: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			return </a:t>
            </a:r>
            <a:r>
              <a:rPr lang="en-IN" altLang="en-US" sz="2400" dirty="0" err="1">
                <a:latin typeface="Times New Roman" pitchFamily="18" charset="0"/>
                <a:cs typeface="Times New Roman" pitchFamily="18" charset="0"/>
              </a:rPr>
              <a:t>split_stri</a:t>
            </a:r>
            <a:endParaRPr lang="en-IN" alt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latin typeface="Times New Roman" pitchFamily="18" charset="0"/>
                <a:cs typeface="Times New Roman" pitchFamily="18" charset="0"/>
              </a:rPr>
              <a:t>return wrapper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@split_string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@uppercase_decorator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IN" altLang="en-US" sz="24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say_hi</a:t>
            </a: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return 'hello there' </a:t>
            </a:r>
          </a:p>
          <a:p>
            <a:pPr lvl="1" algn="just">
              <a:buFont typeface="Arial" charset="0"/>
              <a:buNone/>
            </a:pPr>
            <a:r>
              <a:rPr lang="en-IN" altLang="en-US" sz="24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say_hi</a:t>
            </a:r>
            <a:r>
              <a:rPr lang="en-I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9450" y="3286128"/>
            <a:ext cx="3086100" cy="8302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Output:</a:t>
            </a:r>
          </a:p>
          <a:p>
            <a:pPr eaLnBrk="1" hangingPunct="1">
              <a:defRPr/>
            </a:pPr>
            <a:r>
              <a:rPr lang="en-IN" sz="2400" dirty="0">
                <a:solidFill>
                  <a:srgbClr val="FF0000"/>
                </a:solidFill>
              </a:rPr>
              <a:t>[‘HELLO ‘,’THERE’]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F8BB20-23E4-428C-AF2F-BDD2EAB95638}" type="datetime1">
              <a:rPr lang="en-US" smtClean="0"/>
              <a:t>5/9/2023</a:t>
            </a:fld>
            <a:endParaRPr lang="en-US"/>
          </a:p>
        </p:txBody>
      </p:sp>
      <p:sp>
        <p:nvSpPr>
          <p:cNvPr id="5222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28297E-5D5D-40E0-B6AB-B5E1F550C37F}" type="slidenum">
              <a:rPr lang="en-US" altLang="en-US">
                <a:cs typeface="Arial" charset="0"/>
              </a:rPr>
              <a:pPr/>
              <a:t>53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28776" y="7"/>
            <a:ext cx="9326880" cy="78581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Accepting Arguments in Decorator Functions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(CO3)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222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9" name="Content Placeholder 9"/>
          <p:cNvSpPr>
            <a:spLocks noGrp="1"/>
          </p:cNvSpPr>
          <p:nvPr>
            <p:ph idx="1"/>
          </p:nvPr>
        </p:nvSpPr>
        <p:spPr>
          <a:xfrm>
            <a:off x="548640" y="1214438"/>
            <a:ext cx="9875520" cy="5186362"/>
          </a:xfrm>
        </p:spPr>
        <p:txBody>
          <a:bodyPr/>
          <a:lstStyle/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def decorator_with_arguments(function):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 	def wrapper_accepting_arguments (arg1, arg2):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print("My arguments are: {0}, {1}".format(arg1,arg2))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function(arg1, arg2)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		return wrapper_accepting_arguments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@decorator_with_arguments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def cities(city_one, city_two): 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	print("Cities I love are {0} and {1}".format(city_one, city_two))</a:t>
            </a:r>
          </a:p>
          <a:p>
            <a:pPr lvl="1" algn="just">
              <a:buFont typeface="Arial" charset="0"/>
              <a:buNone/>
            </a:pPr>
            <a:r>
              <a:rPr lang="en-IN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# call of Decorators</a:t>
            </a:r>
            <a:endParaRPr lang="en-IN" altLang="en-US" sz="240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charset="0"/>
              <a:buNone/>
            </a:pPr>
            <a:r>
              <a:rPr lang="en-IN" alt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cities("Nairobi", "Accra")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7926" y="4714880"/>
            <a:ext cx="44577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IN"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Output</a:t>
            </a:r>
            <a:r>
              <a:rPr lang="en-IN" sz="2400" dirty="0">
                <a:solidFill>
                  <a:srgbClr val="FF0000"/>
                </a:solidFill>
              </a:rPr>
              <a:t>:</a:t>
            </a:r>
          </a:p>
          <a:p>
            <a:pPr eaLnBrk="1" hangingPunct="1">
              <a:defRPr/>
            </a:pPr>
            <a:r>
              <a:rPr lang="en-IN" sz="2400" dirty="0"/>
              <a:t>My arguments are: Nairobi, Accra Cities I love are Nairobi and Accra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016002"/>
            <a:ext cx="1060704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 Python generator is a kind of an iterable, like a Python list or a python tuple. It generates for us a sequence of values that we can iterate on.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You can use it to iterate on a for-loop in python, but you can’t index it. Let’s take a look at how to create one with python generator example.</a:t>
            </a:r>
            <a:br>
              <a:rPr lang="en-IN" sz="2200" dirty="0">
                <a:latin typeface="Times New Roman" pitchFamily="18" charset="0"/>
                <a:cs typeface="Times New Roman" pitchFamily="18" charset="0"/>
              </a:rPr>
            </a:b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To create a python generator, we use the yield statement, inside a function, instead of the return statement.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counter():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=1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	while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&lt;=10):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	yield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+=1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6BC12DB4-27F8-431F-BB76-121BC01ABCA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325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B5993F-F234-4B1F-ADBF-31B40B70BCE5}" type="slidenum">
              <a:rPr lang="en-US" altLang="en-US">
                <a:cs typeface="Arial" charset="0"/>
              </a:rPr>
              <a:pPr/>
              <a:t>54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Generator Functions (CO3)</a:t>
            </a:r>
          </a:p>
        </p:txBody>
      </p:sp>
      <p:pic>
        <p:nvPicPr>
          <p:cNvPr id="5325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016002"/>
            <a:ext cx="10607040" cy="5268913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With this, we define a Python generator called counter() and assign 1 to the local variable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As long as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less than or equal to 5, the loop will execute.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Inside the loop, we yield the value of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and then increment it.</a:t>
            </a:r>
          </a:p>
          <a:p>
            <a:pPr>
              <a:buFont typeface="Arial" pitchFamily="34" charset="0"/>
              <a:buChar char="•"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Then, we iterate on this generator using the for-loop.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counter():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print(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IN" sz="2000" dirty="0"/>
            </a:b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03B865A8-B241-4C74-9E52-EE25745697E4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427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367A941-B9F2-4A6C-9BDA-C6C42ED079B1}" type="slidenum">
              <a:rPr lang="en-US" altLang="en-US">
                <a:cs typeface="Arial" charset="0"/>
              </a:rPr>
              <a:pPr/>
              <a:t>55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36532"/>
            <a:ext cx="9144000" cy="7778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Generator Functions</a:t>
            </a:r>
          </a:p>
        </p:txBody>
      </p:sp>
      <p:pic>
        <p:nvPicPr>
          <p:cNvPr id="5427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749040" y="4343400"/>
            <a:ext cx="5029200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/>
              <a:t>1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/>
              <a:t>2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/>
              <a:t>3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/>
              <a:t>4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/>
              <a:t>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524000"/>
            <a:ext cx="10607040" cy="4800600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understand how this code works, we’ll start with the for-loop. For each item in the Python generator (each item that it yields), it prints it, here.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We begin with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=1. So, the first item that it yields is 1. The for-loop prints this because of our print statement. Then, we increment I to 2.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And the process follows until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incremented to 11. Then, the while loop’s condition becomes False.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However, if you forget the statement to increment I, it results in an infinite generator. This is because a Python generator needs to hold only one value at a time.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So, there are no memory restrictions.</a:t>
            </a:r>
          </a:p>
          <a:p>
            <a:pPr marL="0" indent="0">
              <a:buFont typeface="Arial" pitchFamily="34" charset="0"/>
              <a:buNone/>
              <a:defRPr/>
            </a:pPr>
            <a:br>
              <a:rPr lang="en-IN" sz="2000" dirty="0"/>
            </a:b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8A3FA0AB-1CEB-4418-B5B3-51B7A013AF3B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530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757936-B6F0-44D0-9754-8C53A8B89346}" type="slidenum">
              <a:rPr lang="en-US" altLang="en-US">
                <a:cs typeface="Arial" charset="0"/>
              </a:rPr>
              <a:pPr/>
              <a:t>56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651636" y="53975"/>
            <a:ext cx="9144000" cy="84931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Working of Python Generator</a:t>
            </a:r>
          </a:p>
        </p:txBody>
      </p:sp>
      <p:pic>
        <p:nvPicPr>
          <p:cNvPr id="5530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74320" y="1016000"/>
            <a:ext cx="10607040" cy="584200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b="1" dirty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even(x):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b="1" dirty="0">
                <a:latin typeface="Times New Roman" pitchFamily="18" charset="0"/>
                <a:cs typeface="Times New Roman" pitchFamily="18" charset="0"/>
              </a:rPr>
              <a:t>	while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x%2==0: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		yield 'Even’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b="1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en-US" sz="22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even(2):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alt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Even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Even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Even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Even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Even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 err="1">
                <a:latin typeface="Times New Roman" pitchFamily="18" charset="0"/>
                <a:cs typeface="Times New Roman" pitchFamily="18" charset="0"/>
              </a:rPr>
              <a:t>EvenEvenTraceback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 (most recent call last):File “&lt;pyshell#24&gt;”, line 2, in &lt;module&gt;print(</a:t>
            </a:r>
            <a:r>
              <a:rPr lang="en-IN" alt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alt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altLang="en-US" sz="2200" dirty="0" err="1">
                <a:latin typeface="Times New Roman" pitchFamily="18" charset="0"/>
                <a:cs typeface="Times New Roman" pitchFamily="18" charset="0"/>
              </a:rPr>
              <a:t>KeyboardInterrupt</a:t>
            </a:r>
            <a:endParaRPr lang="en-IN" alt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IN" altLang="en-US" sz="2000" b="1" dirty="0"/>
          </a:p>
          <a:p>
            <a:pPr marL="0" indent="0">
              <a:buFont typeface="Arial" pitchFamily="34" charset="0"/>
              <a:buNone/>
              <a:defRPr/>
            </a:pPr>
            <a:endParaRPr lang="en-IN" altLang="en-US" sz="2000" b="1" dirty="0"/>
          </a:p>
          <a:p>
            <a:pPr marL="0" indent="0">
              <a:buFont typeface="Arial" pitchFamily="34" charset="0"/>
              <a:buNone/>
              <a:defRPr/>
            </a:pPr>
            <a:br>
              <a:rPr lang="en-IN" altLang="en-US" sz="2000" dirty="0"/>
            </a:br>
            <a:endParaRPr lang="en-IN" altLang="en-US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87C25413-7373-4324-9EE9-8D46A882AFF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632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75BB023-500A-4B80-B069-36D926F038F6}" type="slidenum">
              <a:rPr lang="en-US" altLang="en-US">
                <a:cs typeface="Arial" charset="0"/>
              </a:rPr>
              <a:pPr/>
              <a:t>57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651636" y="53975"/>
            <a:ext cx="9144000" cy="84931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Working of Python Generator</a:t>
            </a:r>
          </a:p>
        </p:txBody>
      </p:sp>
      <p:pic>
        <p:nvPicPr>
          <p:cNvPr id="5632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206240" y="2667000"/>
            <a:ext cx="5212080" cy="1174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since 2 is even, 2%2 is always 0. Hence, the condition for while is always true.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91440" y="985838"/>
            <a:ext cx="10789920" cy="5872162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Generator may contain more than one Python yield statement. This is comparable to how a Python generator function may contain more than one return statement.</a:t>
            </a:r>
            <a:endParaRPr lang="en-IN" altLang="en-US" sz="2000" b="1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 my_gen(x):</a:t>
            </a:r>
          </a:p>
          <a:p>
            <a:pPr marL="0" indent="0">
              <a:buFont typeface="Arial" charset="0"/>
              <a:buNone/>
            </a:pP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	while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(x&gt;0):</a:t>
            </a:r>
          </a:p>
          <a:p>
            <a:pPr marL="0" indent="0">
              <a:buFont typeface="Arial" charset="0"/>
              <a:buNone/>
            </a:pP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		if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 x%2==0:</a:t>
            </a:r>
          </a:p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			yield 'Even’</a:t>
            </a:r>
          </a:p>
          <a:p>
            <a:pPr marL="0" indent="0">
              <a:buFont typeface="Arial" charset="0"/>
              <a:buNone/>
            </a:pP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		else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			yield 'Odd’</a:t>
            </a:r>
          </a:p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	x-=1</a:t>
            </a:r>
          </a:p>
          <a:p>
            <a:pPr marL="0" indent="0">
              <a:buFont typeface="Arial" charset="0"/>
              <a:buNone/>
            </a:pP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IN" altLang="en-US" sz="2000" b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 my_gen(7):</a:t>
            </a:r>
          </a:p>
          <a:p>
            <a:pPr marL="0" indent="0">
              <a:buFont typeface="Arial" charset="0"/>
              <a:buNone/>
            </a:pPr>
            <a:r>
              <a:rPr lang="en-IN" altLang="en-US" sz="2000">
                <a:latin typeface="Times New Roman" pitchFamily="18" charset="0"/>
                <a:cs typeface="Times New Roman" pitchFamily="18" charset="0"/>
              </a:rPr>
              <a:t>print(i)</a:t>
            </a:r>
          </a:p>
          <a:p>
            <a:pPr marL="0" indent="0">
              <a:buFont typeface="Arial" charset="0"/>
              <a:buNone/>
            </a:pPr>
            <a:endParaRPr lang="en-IN" altLang="en-US" sz="2000" b="1"/>
          </a:p>
          <a:p>
            <a:pPr marL="0" indent="0">
              <a:buFont typeface="Arial" charset="0"/>
              <a:buNone/>
            </a:pPr>
            <a:br>
              <a:rPr lang="en-IN" altLang="en-US" sz="2000"/>
            </a:br>
            <a:endParaRPr lang="en-IN" altLang="en-US" sz="2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7D779ADD-7B27-4ADB-96A4-97F06B9B4710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734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4C1B93-3AC4-482F-93C8-C17D7F537BE1}" type="slidenum">
              <a:rPr lang="en-US" altLang="en-US">
                <a:cs typeface="Arial" charset="0"/>
              </a:rPr>
              <a:pPr/>
              <a:t>58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651638" y="53979"/>
            <a:ext cx="9229724" cy="8175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Working of Python Generator</a:t>
            </a:r>
          </a:p>
        </p:txBody>
      </p:sp>
      <p:pic>
        <p:nvPicPr>
          <p:cNvPr id="5735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206240" y="4419600"/>
            <a:ext cx="59436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b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985838"/>
            <a:ext cx="10789920" cy="5462587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This one’s a no-brainer. If you apply the list() function to the call to the Python generator, it will return a list of the yielded values, in the order in which they are yielded.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Here, we take an example that creates a list of squares of numbers, on the condition that the squares are even.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even_squares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(x):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for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range(x):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if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**2%2==0: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	yield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**2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print(list(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even_squares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(10)))</a:t>
            </a:r>
          </a:p>
          <a:p>
            <a:pPr marL="0" indent="0">
              <a:buFont typeface="Arial" pitchFamily="34" charset="0"/>
              <a:buNone/>
              <a:defRPr/>
            </a:pPr>
            <a:br>
              <a:rPr lang="en-IN" sz="2000" dirty="0"/>
            </a:b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B7F593FE-845F-4E70-AFF2-142DAF9F470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837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81FFF08-7B37-4EEE-B9B0-783473892B8B}" type="slidenum">
              <a:rPr lang="en-US" altLang="en-US">
                <a:cs typeface="Arial" charset="0"/>
              </a:rPr>
              <a:pPr/>
              <a:t>59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651636" y="53979"/>
            <a:ext cx="9144000" cy="8175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Yielding into a Python List</a:t>
            </a:r>
          </a:p>
        </p:txBody>
      </p:sp>
      <p:pic>
        <p:nvPicPr>
          <p:cNvPr id="5837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6492240" y="4419600"/>
            <a:ext cx="374904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[0, 4, 16, 36, 64]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905000"/>
            <a:ext cx="10332720" cy="3276600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A list holds a number of values at once. But a Python generator holds only one value at a time, the value to yield.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This is why it needs much less space compared to a list. With a generator, we also don’t need to wait until all the values are rendered.</a:t>
            </a:r>
            <a:br>
              <a:rPr lang="en-IN" sz="2600" dirty="0">
                <a:latin typeface="Times New Roman" pitchFamily="18" charset="0"/>
                <a:cs typeface="Times New Roman" pitchFamily="18" charset="0"/>
              </a:rPr>
            </a:br>
            <a:endParaRPr lang="en-IN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2E6ED2F0-3C65-4C55-B606-E6DB53809329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5939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F85C702-509B-4DAA-8254-9AA74D020BFA}" type="slidenum">
              <a:rPr lang="en-US" altLang="en-US">
                <a:cs typeface="Arial" charset="0"/>
              </a:rPr>
              <a:pPr/>
              <a:t>60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651638" y="0"/>
            <a:ext cx="9229724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dirty="0"/>
            </a:b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List vs Generator in Python</a:t>
            </a:r>
            <a:br>
              <a:rPr lang="en-IN" sz="1200" dirty="0"/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5939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274320" y="1524000"/>
            <a:ext cx="10332720" cy="44196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600" b="1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 which is also known  as  </a:t>
            </a:r>
            <a:r>
              <a:rPr lang="en-US" altLang="en-US" sz="2600" b="1">
                <a:latin typeface="Times New Roman" pitchFamily="18" charset="0"/>
                <a:cs typeface="Times New Roman" pitchFamily="18" charset="0"/>
              </a:rPr>
              <a:t>subroutine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altLang="en-US" sz="2600" b="1">
                <a:latin typeface="Times New Roman" pitchFamily="18" charset="0"/>
                <a:cs typeface="Times New Roman" pitchFamily="18" charset="0"/>
              </a:rPr>
              <a:t>procedure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altLang="en-US" sz="2600" b="1">
                <a:latin typeface="Times New Roman" pitchFamily="18" charset="0"/>
                <a:cs typeface="Times New Roman" pitchFamily="18" charset="0"/>
              </a:rPr>
              <a:t>subprocess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 etc."</a:t>
            </a:r>
          </a:p>
          <a:p>
            <a:pPr marL="0" indent="0">
              <a:buFont typeface="Arial" charset="0"/>
              <a:buNone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buFont typeface="Arial" charset="0"/>
              <a:buNone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A function is a sequence of instructions packed as a unit to perform a certain task. </a:t>
            </a:r>
          </a:p>
          <a:p>
            <a:pPr marL="0" indent="0">
              <a:buFont typeface="Arial" charset="0"/>
              <a:buNone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When the logic of a complex function is divided into several self-contained steps that are themselves functions, then these functions are called helper functions or </a:t>
            </a:r>
            <a:r>
              <a:rPr lang="en-US" altLang="en-US" sz="2600" b="1">
                <a:latin typeface="Times New Roman" pitchFamily="18" charset="0"/>
                <a:cs typeface="Times New Roman" pitchFamily="18" charset="0"/>
              </a:rPr>
              <a:t>subroutines</a:t>
            </a: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/>
            <a:endParaRPr lang="en-IN" altLang="en-US" sz="2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FE5B2389-4E96-4229-805B-24EEFC59B26A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042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33388E3-0A00-4349-95E3-E489AAA3EC2D}" type="slidenum">
              <a:rPr lang="en-US" altLang="en-US">
                <a:cs typeface="Arial" charset="0"/>
              </a:rPr>
              <a:pPr/>
              <a:t>61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20650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1200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 to Sub-routine (CO3)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042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2"/>
          <p:cNvSpPr>
            <a:spLocks noGrp="1"/>
          </p:cNvSpPr>
          <p:nvPr>
            <p:ph idx="1"/>
          </p:nvPr>
        </p:nvSpPr>
        <p:spPr>
          <a:xfrm>
            <a:off x="274320" y="1219200"/>
            <a:ext cx="10332720" cy="51308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br>
              <a:rPr lang="en-IN" altLang="en-US" sz="2000"/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Subroutines in Python are called by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main function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which is responsible for coordination the use of these subroutines. Subroutines have single entry point.</a:t>
            </a:r>
          </a:p>
          <a:p>
            <a:pPr marL="0" indent="0">
              <a:buFont typeface="Arial" charset="0"/>
              <a:buNone/>
            </a:pPr>
            <a:endParaRPr lang="en-IN" altLang="en-US" sz="2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1F7AD1C7-5B4D-4CB6-9BE0-8ED67D1804A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477007"/>
            <a:ext cx="7132320" cy="24447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144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F1AA662-8A0F-46F5-A63C-A366F07B44E0}" type="slidenum">
              <a:rPr lang="en-US" altLang="en-US">
                <a:cs typeface="Arial" charset="0"/>
              </a:rPr>
              <a:pPr/>
              <a:t>62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19062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1200" dirty="0"/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 to Sub-routine...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144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8" name="Picture 4" descr="Diagram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514607"/>
            <a:ext cx="6858000" cy="403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219200"/>
            <a:ext cx="10332720" cy="513080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br>
              <a:rPr lang="en-IN" sz="2000" dirty="0"/>
            </a:br>
            <a:r>
              <a:rPr lang="en-US" sz="2000" dirty="0">
                <a:ea typeface="+mn-lt"/>
                <a:cs typeface="+mn-lt"/>
              </a:rPr>
              <a:t>"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Coroutines are generalization of subroutines." They are used for cooperative multitasking where a process voluntarily </a:t>
            </a:r>
            <a:r>
              <a:rPr lang="en-US" sz="2400" b="1" dirty="0">
                <a:latin typeface="Times New Roman" pitchFamily="18" charset="0"/>
                <a:ea typeface="+mn-lt"/>
                <a:cs typeface="Times New Roman" pitchFamily="18" charset="0"/>
              </a:rPr>
              <a:t>yield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(give away) control periodically or when idle in order to enable multiple applications to be run simultaneously. </a:t>
            </a:r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5DB6A3FC-4B68-41CC-A90F-A30B83C325EC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246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EF1F17C-C7FD-43B9-A34B-612723CC0C34}" type="slidenum">
              <a:rPr lang="en-US" altLang="en-US">
                <a:cs typeface="Arial" charset="0"/>
              </a:rPr>
              <a:pPr/>
              <a:t>63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20650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Co-routines (CO3)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247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9" name="Picture 4" descr="Diagram&#10;&#10;Description automatically generat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7360" y="3783013"/>
            <a:ext cx="8229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219200"/>
            <a:ext cx="10332720" cy="513080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def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print name(prefix):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  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print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("Searching prefix:{}".format(prefix))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  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while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True: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      name 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=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(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yield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)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      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if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prefix 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in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name: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          print(name)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# calling coroutine, nothing will happen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 err="1">
                <a:latin typeface="Times New Roman" pitchFamily="18" charset="0"/>
                <a:ea typeface="+mn-lt"/>
                <a:cs typeface="Times New Roman" pitchFamily="18" charset="0"/>
              </a:rPr>
              <a:t>corou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ea typeface="+mn-lt"/>
                <a:cs typeface="Times New Roman" pitchFamily="18" charset="0"/>
              </a:rPr>
              <a:t>=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ea typeface="+mn-lt"/>
                <a:cs typeface="Times New Roman" pitchFamily="18" charset="0"/>
              </a:rPr>
              <a:t>print_name</a:t>
            </a: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("Dear")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200" dirty="0">
                <a:latin typeface="Times New Roman" pitchFamily="18" charset="0"/>
                <a:ea typeface="+mn-lt"/>
                <a:cs typeface="Times New Roman" pitchFamily="18" charset="0"/>
              </a:rPr>
              <a:t> 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# This will start execution of coroutine and 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# Prints first line "Searching prefix..."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# and advance execution to the first yield expression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4C073B14-AB4E-4812-9A32-29D323C2F083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349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CFF074A-DF58-45C7-97B9-C3B48162E54C}" type="slidenum">
              <a:rPr lang="en-US" altLang="en-US">
                <a:cs typeface="Arial" charset="0"/>
              </a:rPr>
              <a:pPr/>
              <a:t>64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20650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Python program for demonstrating </a:t>
            </a:r>
            <a:b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# coroutine execution 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349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219200"/>
            <a:ext cx="10332720" cy="5130800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corou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.__next__() </a:t>
            </a: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</a:t>
            </a: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sending inputs </a:t>
            </a: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corou.send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(“XYZ") </a:t>
            </a: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corou.send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("Dear XYZ") </a:t>
            </a: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C5A2C102-C49D-473F-BCEF-96E434459F95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451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9C2DCE6-559C-4C63-946D-73665F7E21F8}" type="slidenum">
              <a:rPr lang="en-US" altLang="en-US">
                <a:cs typeface="Arial" charset="0"/>
              </a:rPr>
              <a:pPr/>
              <a:t>65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20650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Python program for demonstrating  # coroutine execution ...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451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6309360" y="3657600"/>
            <a:ext cx="393192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Output: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Times New Roman" pitchFamily="18" charset="0"/>
                <a:ea typeface="+mn-lt"/>
                <a:cs typeface="Times New Roman" pitchFamily="18" charset="0"/>
              </a:rPr>
              <a:t>Searching </a:t>
            </a:r>
            <a:r>
              <a:rPr lang="en-US" dirty="0" err="1">
                <a:latin typeface="Times New Roman" pitchFamily="18" charset="0"/>
                <a:ea typeface="+mn-lt"/>
                <a:cs typeface="Times New Roman" pitchFamily="18" charset="0"/>
              </a:rPr>
              <a:t>prefix:Dear</a:t>
            </a:r>
            <a:r>
              <a:rPr lang="en-US" dirty="0">
                <a:latin typeface="Times New Roman" pitchFamily="18" charset="0"/>
                <a:ea typeface="+mn-lt"/>
                <a:cs typeface="Times New Roman" pitchFamily="18" charset="0"/>
              </a:rPr>
              <a:t> Dear XYZ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Closing a Coroutine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sp>
        <p:nvSpPr>
          <p:cNvPr id="65539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848226" cy="4103688"/>
          </a:xfrm>
        </p:spPr>
        <p:txBody>
          <a:bodyPr/>
          <a:lstStyle/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print_name(prefix): 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("Searching prefix:{}".format(prefix))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: 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True: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            name 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yield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)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        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prefix 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name: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                print(name)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except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GeneratorExit: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          </a:t>
            </a:r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("Closing coroutine!!")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</a:pPr>
            <a:endParaRPr lang="en-IN" altLang="en-US" sz="2000" b="1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4"/>
          </p:nvPr>
        </p:nvSpPr>
        <p:spPr>
          <a:xfrm>
            <a:off x="5577842" y="1676400"/>
            <a:ext cx="4850130" cy="3951288"/>
          </a:xfrm>
        </p:spPr>
        <p:txBody>
          <a:bodyPr/>
          <a:lstStyle/>
          <a:p>
            <a:pPr marL="0" indent="0">
              <a:buFont typeface="Arial" charset="0"/>
              <a:buNone/>
              <a:tabLst>
                <a:tab pos="3486150" algn="l"/>
              </a:tabLst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corou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print_name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("Dear") 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corou.__next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__() 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corou.send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corou.send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("Dear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") </a:t>
            </a:r>
          </a:p>
          <a:p>
            <a:pPr marL="0" indent="0">
              <a:buFont typeface="Arial" charset="0"/>
              <a:buNone/>
              <a:tabLst>
                <a:tab pos="3486150" algn="l"/>
              </a:tabLst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corou.close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 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586BD09-4826-4F79-B9C8-C4F552C13E80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554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9C9A63A-6BF4-4795-81F3-245276DD8337}" type="slidenum">
              <a:rPr lang="en-US" altLang="en-US">
                <a:cs typeface="Arial" charset="0"/>
              </a:rPr>
              <a:pPr/>
              <a:t>66</a:t>
            </a:fld>
            <a:endParaRPr lang="en-US" altLang="en-US">
              <a:cs typeface="Arial" charset="0"/>
            </a:endParaRPr>
          </a:p>
        </p:txBody>
      </p:sp>
      <p:pic>
        <p:nvPicPr>
          <p:cNvPr id="65544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286000" y="5257800"/>
            <a:ext cx="658368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ea typeface="+mn-lt"/>
                <a:cs typeface="+mn-lt"/>
              </a:rPr>
              <a:t> OUTPUT</a:t>
            </a:r>
          </a:p>
          <a:p>
            <a:pPr>
              <a:defRPr/>
            </a:pPr>
            <a:r>
              <a:rPr lang="en-US" dirty="0">
                <a:ea typeface="+mn-lt"/>
                <a:cs typeface="+mn-lt"/>
              </a:rPr>
              <a:t> Searching </a:t>
            </a:r>
            <a:r>
              <a:rPr lang="en-US" dirty="0" err="1">
                <a:ea typeface="+mn-lt"/>
                <a:cs typeface="+mn-lt"/>
              </a:rPr>
              <a:t>prefix:Dear</a:t>
            </a:r>
            <a:r>
              <a:rPr lang="en-US" dirty="0">
                <a:ea typeface="+mn-lt"/>
                <a:cs typeface="+mn-lt"/>
              </a:rPr>
              <a:t> Dear XYZ Closing coroutine!! 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2"/>
          <p:cNvSpPr>
            <a:spLocks noGrp="1"/>
          </p:cNvSpPr>
          <p:nvPr>
            <p:ph idx="1"/>
          </p:nvPr>
        </p:nvSpPr>
        <p:spPr>
          <a:xfrm>
            <a:off x="274320" y="1219200"/>
            <a:ext cx="10332720" cy="5130800"/>
          </a:xfrm>
        </p:spPr>
        <p:txBody>
          <a:bodyPr/>
          <a:lstStyle/>
          <a:p>
            <a:pPr algn="ctr">
              <a:buFont typeface="Wingdings" pitchFamily="2" charset="2"/>
              <a:buChar char="Ø"/>
            </a:pPr>
            <a:endParaRPr lang="en-US" altLang="en-US" sz="2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An iterator is an object that contains a countable number of values.</a:t>
            </a:r>
          </a:p>
          <a:p>
            <a:pPr>
              <a:buFont typeface="Wingdings" pitchFamily="2" charset="2"/>
              <a:buChar char="Ø"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An iterator is an object that can be iterated upon, meaning that you can traverse through all the values.</a:t>
            </a:r>
          </a:p>
          <a:p>
            <a:pPr>
              <a:buFont typeface="Wingdings" pitchFamily="2" charset="2"/>
              <a:buChar char="Ø"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Technically, in Python, an iterator is an object which implements the iterator protocol, which consist of the methods __iter__() and __next__().</a:t>
            </a:r>
          </a:p>
          <a:p>
            <a:pPr>
              <a:buFont typeface="Arial" charset="0"/>
              <a:buNone/>
            </a:pPr>
            <a:endParaRPr lang="en-IN" altLang="en-US" sz="2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57217CD8-F960-4C59-8999-44EDDD54E5C6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656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2E8AEA-8DA5-4A4A-B9EF-2ACE86ADD9AD}" type="slidenum">
              <a:rPr lang="en-US" altLang="en-US">
                <a:cs typeface="Arial" charset="0"/>
              </a:rPr>
              <a:pPr/>
              <a:t>67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554480" y="120650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err="1">
                <a:latin typeface="Times New Roman" pitchFamily="18" charset="0"/>
                <a:ea typeface="+mj-lt"/>
                <a:cs typeface="Times New Roman" pitchFamily="18" charset="0"/>
              </a:rPr>
              <a:t>Iterator</a:t>
            </a: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 (CO3)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656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Lists, tuples, dictionaries, and sets are all iterable objects. They are iterable 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containers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 which you can get an iterator from.</a:t>
            </a:r>
          </a:p>
          <a:p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All these objects have a 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iter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() method which is used to get an iterator:</a:t>
            </a:r>
          </a:p>
          <a:p>
            <a:pPr>
              <a:buFont typeface="Arial" charset="0"/>
              <a:buNone/>
            </a:pPr>
            <a:r>
              <a:rPr lang="en-US" alt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Font typeface="Arial" charset="0"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Return an iterator from a tuple, and print each value:</a:t>
            </a:r>
          </a:p>
          <a:p>
            <a:pPr>
              <a:buFont typeface="Arial" charset="0"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mytuple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= ("apple", "banana", "cherry")</a:t>
            </a:r>
          </a:p>
          <a:p>
            <a:pPr>
              <a:buFont typeface="Arial" charset="0"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myit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= 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iter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mytuple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print(next(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myit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))</a:t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print(next(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myit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))</a:t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print(next(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myit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endParaRPr lang="en-US" altLang="en-US" sz="2000" dirty="0"/>
          </a:p>
          <a:p>
            <a:pPr>
              <a:buFont typeface="Arial" charset="0"/>
              <a:buNone/>
            </a:pPr>
            <a:endParaRPr lang="en-IN" altLang="en-US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72813A2F-84EE-4698-9553-A66509B124EB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758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5AE42B6-FB1F-4E4A-AD09-AF16D4CA5584}" type="slidenum">
              <a:rPr lang="en-US" altLang="en-US">
                <a:cs typeface="Arial" charset="0"/>
              </a:rPr>
              <a:pPr/>
              <a:t>68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06880" y="73025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Iterator </a:t>
            </a:r>
            <a:r>
              <a:rPr lang="en-US" sz="3200" dirty="0" err="1">
                <a:latin typeface="Times New Roman" pitchFamily="18" charset="0"/>
                <a:ea typeface="+mj-lt"/>
                <a:cs typeface="Times New Roman" pitchFamily="18" charset="0"/>
              </a:rPr>
              <a:t>vs</a:t>
            </a: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ea typeface="+mj-lt"/>
                <a:cs typeface="Times New Roman" pitchFamily="18" charset="0"/>
              </a:rPr>
              <a:t>Iterable</a:t>
            </a: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 (CO3)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759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400800" y="4876800"/>
            <a:ext cx="329184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</a:t>
            </a:r>
          </a:p>
          <a:p>
            <a:pPr>
              <a:defRPr/>
            </a:pPr>
            <a:r>
              <a:rPr lang="en-US" dirty="0"/>
              <a:t>Apple</a:t>
            </a:r>
          </a:p>
          <a:p>
            <a:pPr>
              <a:defRPr/>
            </a:pPr>
            <a:r>
              <a:rPr lang="en-US" dirty="0"/>
              <a:t>Banana</a:t>
            </a:r>
          </a:p>
          <a:p>
            <a:pPr>
              <a:defRPr/>
            </a:pPr>
            <a:r>
              <a:rPr lang="en-US" dirty="0"/>
              <a:t>cherry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ea typeface="+mj-lt"/>
                <a:cs typeface="+mj-lt"/>
              </a:rPr>
              <a:t>“</a:t>
            </a:r>
            <a:r>
              <a:rPr lang="en-US" sz="2400" dirty="0">
                <a:latin typeface="Times New Roman" pitchFamily="18" charset="0"/>
                <a:ea typeface="+mj-lt"/>
                <a:cs typeface="Times New Roman" pitchFamily="18" charset="0"/>
              </a:rPr>
              <a:t>Even strings are iterable objects, and can return an iterator”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Strings are also iterable objects, containing a sequence of characters: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mystr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 = "banana"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 = iter(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mystr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print(next(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myit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))</a:t>
            </a:r>
            <a:br>
              <a:rPr lang="en-US" sz="2600" dirty="0">
                <a:latin typeface="Times New Roman" pitchFamily="18" charset="0"/>
                <a:ea typeface="+mn-lt"/>
                <a:cs typeface="Times New Roman" pitchFamily="18" charset="0"/>
              </a:rPr>
            </a:br>
            <a:endParaRPr lang="en-US" sz="26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7CFF8BB2-27F1-4DA8-9D3E-B5A645118187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861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CF260E0-50D9-43FF-B9AF-854AE39E6B98}" type="slidenum">
              <a:rPr lang="en-US" altLang="en-US">
                <a:cs typeface="Arial" charset="0"/>
              </a:rPr>
              <a:pPr/>
              <a:t>69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06880" y="73025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Iterator vs Iterable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861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We can also use a for loop to iterate through an iterable object:</a:t>
            </a:r>
          </a:p>
          <a:p>
            <a:pPr>
              <a:buFont typeface="Arial" charset="0"/>
              <a:buNone/>
            </a:pPr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Iterate the values of a tuple:</a:t>
            </a:r>
          </a:p>
          <a:p>
            <a:pPr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mytuple = ("apple", "banana", "cherry")</a:t>
            </a:r>
          </a:p>
          <a:p>
            <a:pPr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for x in mytuple: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  print(x)</a:t>
            </a:r>
          </a:p>
          <a:p>
            <a:pPr>
              <a:buFont typeface="Arial" charset="0"/>
              <a:buNone/>
            </a:pPr>
            <a:endParaRPr lang="en-US" altLang="en-US" sz="2600" b="1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br>
              <a:rPr lang="en-US" altLang="en-US" sz="2000">
                <a:cs typeface="Calibri" pitchFamily="34" charset="0"/>
              </a:rPr>
            </a:br>
            <a:endParaRPr lang="en-US" altLang="en-US" sz="2000">
              <a:cs typeface="Calibri" pitchFamily="34" charset="0"/>
            </a:endParaRPr>
          </a:p>
          <a:p>
            <a:pPr>
              <a:buFont typeface="Arial" charset="0"/>
              <a:buNone/>
            </a:pPr>
            <a:endParaRPr lang="en-US" altLang="en-US" sz="2000"/>
          </a:p>
          <a:p>
            <a:pPr>
              <a:buFont typeface="Arial" charset="0"/>
              <a:buNone/>
            </a:pPr>
            <a:endParaRPr lang="en-IN" altLang="en-US" sz="2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48F3AEB5-8DE6-47A0-A7F1-431EFD2190D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6963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F0F44CC-971F-41D2-8EBC-4EF5A02DB4D1}" type="slidenum">
              <a:rPr lang="en-US" altLang="en-US">
                <a:cs typeface="Arial" charset="0"/>
              </a:rPr>
              <a:pPr/>
              <a:t>70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06880" y="73025"/>
            <a:ext cx="923544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Looping Through an Iterator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6963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389120" y="4267200"/>
            <a:ext cx="512064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To create an object/class as an </a:t>
            </a:r>
            <a:r>
              <a:rPr lang="en-US" altLang="en-US" sz="2400" dirty="0" err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iterator</a:t>
            </a:r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you have to implement the methods __</a:t>
            </a:r>
            <a:r>
              <a:rPr lang="en-US" altLang="en-US" sz="2400" dirty="0" err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iter</a:t>
            </a:r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__() and __next__() to your object.</a:t>
            </a:r>
          </a:p>
          <a:p>
            <a:pPr>
              <a:buFont typeface="Arial" charset="0"/>
              <a:buNone/>
            </a:pPr>
            <a:endParaRPr lang="en-US" altLang="en-US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 classes have a function called __init__(), which allows  to do some initializing when the object is being created.</a:t>
            </a:r>
          </a:p>
          <a:p>
            <a:endParaRPr lang="en-US" altLang="en-US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 __</a:t>
            </a:r>
            <a:r>
              <a:rPr lang="en-US" altLang="en-US" sz="2400" dirty="0" err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iter</a:t>
            </a:r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__() method acts similar, and can do operations (initializing etc.), but must always return the </a:t>
            </a:r>
            <a:r>
              <a:rPr lang="en-US" altLang="en-US" sz="2400" dirty="0" err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iterator</a:t>
            </a:r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object itself.</a:t>
            </a:r>
          </a:p>
          <a:p>
            <a:pPr>
              <a:buFont typeface="Arial" charset="0"/>
              <a:buNone/>
            </a:pPr>
            <a:endParaRPr lang="en-US" altLang="en-US" sz="24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altLang="en-US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 __next__() method also allows to do operations, and must return the next item in the sequence.</a:t>
            </a:r>
          </a:p>
          <a:p>
            <a:pPr>
              <a:buFont typeface="Arial" charset="0"/>
              <a:buNone/>
            </a:pPr>
            <a:br>
              <a:rPr lang="en-US" altLang="en-US" sz="2000" dirty="0">
                <a:ea typeface="Calibri" pitchFamily="34" charset="0"/>
                <a:cs typeface="Times New Roman" pitchFamily="18" charset="0"/>
              </a:rPr>
            </a:br>
            <a:endParaRPr lang="en-US" altLang="en-US" sz="2000" dirty="0">
              <a:ea typeface="Calibri" pitchFamily="34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en-US" altLang="en-US" sz="2000" dirty="0">
              <a:ea typeface="Calibri" pitchFamily="34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en-IN" altLang="en-US" sz="2000" b="1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8523EC63-1573-4138-8813-5E3AA2E76F13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066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D2729F-8F83-4F2C-A8D1-E7EBF2FF387F}" type="slidenum">
              <a:rPr lang="en-US" altLang="en-US">
                <a:cs typeface="Arial" charset="0"/>
              </a:rPr>
              <a:pPr/>
              <a:t>71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b="1" dirty="0"/>
            </a:br>
            <a:br>
              <a:rPr lang="en-IN" sz="1200" b="1" dirty="0"/>
            </a:br>
            <a:br>
              <a:rPr lang="en-IN" sz="1200" b="1" dirty="0"/>
            </a:br>
            <a:br>
              <a:rPr lang="en-IN" sz="3200" b="1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Create an Iterator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b="1" dirty="0"/>
            </a:br>
            <a:br>
              <a:rPr lang="en-IN" b="1" dirty="0"/>
            </a:br>
            <a:endParaRPr lang="en-IN" b="1" dirty="0"/>
          </a:p>
        </p:txBody>
      </p:sp>
      <p:pic>
        <p:nvPicPr>
          <p:cNvPr id="7066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Create an iterator that returns numbers, starting with 1, and each sequence will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increase by one (returning 1,2,3,4,5 etc.):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class 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MyNumbers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: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def __iter__(self):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  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 = 1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  return self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def __next__(self):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  x = 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  </a:t>
            </a:r>
            <a:r>
              <a:rPr lang="en-US" sz="24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 += 1</a:t>
            </a:r>
            <a:b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   return x.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76EB8067-B0E4-40C1-8823-1DA0F4AA2D88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168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65E716-2502-4F24-850C-A0824602778B}" type="slidenum">
              <a:rPr lang="en-US" altLang="en-US">
                <a:cs typeface="Arial" charset="0"/>
              </a:rPr>
              <a:pPr/>
              <a:t>72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Example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71687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274320" y="990600"/>
            <a:ext cx="10332720" cy="53340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myclass = MyNumbers()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myiter = iter(myclass)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print(next(myiter))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print(next(myiter))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print(next(myiter))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print(next(myiter))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print(next(myiter))</a:t>
            </a:r>
          </a:p>
          <a:p>
            <a:pPr marL="0" indent="0">
              <a:buFont typeface="Arial" charset="0"/>
              <a:buNone/>
            </a:pPr>
            <a:endParaRPr lang="en-US" altLang="en-US" sz="240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</a:pPr>
            <a:br>
              <a:rPr lang="en-US" altLang="en-US" sz="2000">
                <a:cs typeface="Calibri" pitchFamily="34" charset="0"/>
              </a:rPr>
            </a:br>
            <a:endParaRPr lang="en-US" altLang="en-US" sz="2000">
              <a:cs typeface="Calibri" pitchFamily="34" charset="0"/>
            </a:endParaRPr>
          </a:p>
          <a:p>
            <a:pPr marL="0" indent="0">
              <a:buFont typeface="Arial" charset="0"/>
              <a:buNone/>
            </a:pPr>
            <a:endParaRPr lang="en-US" altLang="en-US" sz="2000"/>
          </a:p>
          <a:p>
            <a:pPr marL="0" indent="0">
              <a:buFont typeface="Arial" charset="0"/>
              <a:buNone/>
            </a:pPr>
            <a:endParaRPr lang="en-IN" altLang="en-US" sz="2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0962970F-05CB-4786-AA8D-3C21E7086734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270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04B1D7-4C20-4101-B466-BDAAA35FBE02}" type="slidenum">
              <a:rPr lang="en-US" altLang="en-US">
                <a:cs typeface="Arial" charset="0"/>
              </a:rPr>
              <a:pPr/>
              <a:t>73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Example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72711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029200" y="3429000"/>
            <a:ext cx="484632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Output:-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0332720" cy="5029200"/>
          </a:xfrm>
        </p:spPr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The example above would continue forever if you had enough next() statements, or if it was used in a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loop.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To prevent the iteration to go on forever, we can use the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StopIteration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statement.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In the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__next__()</a:t>
            </a:r>
            <a:r>
              <a:rPr lang="en-US" sz="2400" dirty="0">
                <a:latin typeface="Times New Roman" pitchFamily="18" charset="0"/>
                <a:ea typeface="+mn-lt"/>
                <a:cs typeface="Times New Roman" pitchFamily="18" charset="0"/>
              </a:rPr>
              <a:t> method, we can add a terminating condition to raise an error if the iteration is done a specified number of times: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32672B39-B210-41FA-925B-CFC44B939120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373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E7783F-4718-48C4-8102-579D67907AD8}" type="slidenum">
              <a:rPr lang="en-US" altLang="en-US">
                <a:cs typeface="Arial" charset="0"/>
              </a:rPr>
              <a:pPr/>
              <a:t>74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1430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Stop Iteration (CO3)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73735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985838"/>
            <a:ext cx="10332720" cy="5262562"/>
          </a:xfrm>
        </p:spPr>
        <p:txBody>
          <a:bodyPr/>
          <a:lstStyle/>
          <a:p>
            <a:pPr marL="0" indent="0">
              <a:buFont typeface="Arial" pitchFamily="34" charset="0"/>
              <a:buNone/>
              <a:defRPr/>
            </a:pP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class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MyNumbers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def __iter__(self):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 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 = 1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return self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def __next__(self):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if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 &lt;= 20: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  x = 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 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self.a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 += 1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  return x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else: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    raise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StopIteration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myclass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 =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MyNumbers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()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myiter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 = iter(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myclass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)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for x in </a:t>
            </a:r>
            <a:r>
              <a:rPr lang="en-US" sz="2000" dirty="0" err="1">
                <a:latin typeface="Times New Roman" pitchFamily="18" charset="0"/>
                <a:ea typeface="+mn-lt"/>
                <a:cs typeface="Times New Roman" pitchFamily="18" charset="0"/>
              </a:rPr>
              <a:t>myiter</a:t>
            </a: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ea typeface="+mn-lt"/>
                <a:cs typeface="Times New Roman" pitchFamily="18" charset="0"/>
              </a:rPr>
              <a:t>  print(x)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  <a:defRPr/>
            </a:pP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000" dirty="0"/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4128CD8B-29B3-49C7-80CE-6F59DCB2FC92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475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8ECC8F-381A-4C4C-884F-0A0669AA668C}" type="slidenum">
              <a:rPr lang="en-US" altLang="en-US">
                <a:cs typeface="Arial" charset="0"/>
              </a:rPr>
              <a:pPr/>
              <a:t>75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1430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/>
            </a:br>
            <a:r>
              <a:rPr lang="en-US" sz="3200" dirty="0">
                <a:latin typeface="Times New Roman" pitchFamily="18" charset="0"/>
                <a:ea typeface="+mj-lt"/>
                <a:cs typeface="Times New Roman" pitchFamily="18" charset="0"/>
              </a:rPr>
              <a:t>Stop Iteration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200" dirty="0"/>
            </a:br>
            <a:br>
              <a:rPr lang="en-IN" dirty="0"/>
            </a:br>
            <a:endParaRPr lang="en-IN" dirty="0"/>
          </a:p>
        </p:txBody>
      </p:sp>
      <p:pic>
        <p:nvPicPr>
          <p:cNvPr id="74759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486400" y="4648200"/>
            <a:ext cx="4663440" cy="87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Output: 1 2 3 4 5 6 7 8 9 10 11 12 13 14 15 16 17 18 19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7132"/>
            <a:ext cx="10972800" cy="5260975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Declarative Programming </a:t>
            </a: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Languages focus on :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IN" sz="2200" b="1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describing what should be computed </a:t>
            </a: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- and avoid mentioning how that computation should be performed. This means avoiding expressions of control flow: loops and conditional statements are removed and replaced with higher level constructs that describe the logic of what needs to be computed.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The usual </a:t>
            </a:r>
            <a:r>
              <a:rPr lang="en-IN" sz="2200" b="1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of a declarative programming language is </a:t>
            </a:r>
            <a:r>
              <a:rPr lang="en-IN" sz="2200" b="1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 It lets you define what data you want computed - and translates that efficiently onto the database schema.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IN" sz="2200" b="1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Python isn't a pure Declarative Language </a:t>
            </a:r>
            <a:r>
              <a:rPr lang="en-IN" sz="2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- but the same flexibility that contributes to its sluggish speed can be be leveraged to create Domain Specific API's that use the same principles.</a:t>
            </a:r>
            <a:endParaRPr lang="en-US" sz="2200" dirty="0"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  <a:defRPr/>
            </a:pP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-411480" y="6529395"/>
            <a:ext cx="2560320" cy="365125"/>
          </a:xfrm>
        </p:spPr>
        <p:txBody>
          <a:bodyPr/>
          <a:lstStyle/>
          <a:p>
            <a:pPr>
              <a:defRPr/>
            </a:pPr>
            <a:fld id="{575FBB9B-AE4B-4B90-A4CE-F3898B49F821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640" y="6356357"/>
            <a:ext cx="713232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7578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BAA14F-6E26-4EBA-9315-1037873AAAF1}" type="slidenum">
              <a:rPr lang="en-US" altLang="en-US">
                <a:cs typeface="Arial" charset="0"/>
              </a:rPr>
              <a:pPr/>
              <a:t>76</a:t>
            </a:fld>
            <a:endParaRPr lang="en-US" altLang="en-US">
              <a:cs typeface="Arial" charset="0"/>
            </a:endParaRP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1737360" y="114300"/>
            <a:ext cx="9052560" cy="8715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br>
              <a:rPr lang="en-IN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IN" sz="32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Declarative Programming Language (CO3)</a:t>
            </a:r>
            <a:br>
              <a:rPr lang="en-IN" sz="1200" dirty="0">
                <a:latin typeface="Times New Roman" pitchFamily="18" charset="0"/>
                <a:cs typeface="Times New Roman" pitchFamily="18" charset="0"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75783" name="Picture 2" descr="E:\NIET\Project\xLogo11.png.pagespeed.ic.pydHLuCQE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282"/>
            <a:ext cx="173736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F887613C-FF71-439A-AB4E-C8C419C51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241" y="769189"/>
            <a:ext cx="9326880" cy="4953000"/>
          </a:xfrm>
        </p:spPr>
        <p:txBody>
          <a:bodyPr/>
          <a:lstStyle/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CBA80-32AA-45B9-B432-E67F0849BC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D60BAD7-82F6-4E0A-A1E3-8ADDAF3E7188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95B2-B87A-49F9-98C7-D8D546BC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040" y="6356351"/>
            <a:ext cx="62407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0053" name="Slide Number Placeholder 5">
            <a:extLst>
              <a:ext uri="{FF2B5EF4-FFF2-40B4-BE49-F238E27FC236}">
                <a16:creationId xmlns:a16="http://schemas.microsoft.com/office/drawing/2014/main" id="{9DCE061D-D444-43AF-8632-FB5B1EFE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82BBC4-2A9C-41D0-A45F-A80A3C16353D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434811-ED37-4575-A321-C4859EAC1178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Assignment</a:t>
            </a:r>
          </a:p>
        </p:txBody>
      </p:sp>
      <p:pic>
        <p:nvPicPr>
          <p:cNvPr id="130055" name="Picture 2" descr="E:\NIET\Project\xLogo11.png.pagespeed.ic.pydHLuCQEZ.png">
            <a:extLst>
              <a:ext uri="{FF2B5EF4-FFF2-40B4-BE49-F238E27FC236}">
                <a16:creationId xmlns:a16="http://schemas.microsoft.com/office/drawing/2014/main" id="{547969BA-07AE-4F36-BEDD-754149BDA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4DC4AD4-8911-40D1-979C-E7DCE68EF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307" y="2551982"/>
            <a:ext cx="9668485" cy="280996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N" sz="2400">
                <a:latin typeface="Times New Roman"/>
                <a:ea typeface="+mn-lt"/>
                <a:cs typeface="+mn-lt"/>
              </a:rPr>
              <a:t>               </a:t>
            </a:r>
            <a:r>
              <a:rPr lang="en-IN" sz="2400">
                <a:solidFill>
                  <a:srgbClr val="002060"/>
                </a:solidFill>
                <a:latin typeface="Times New Roman"/>
                <a:ea typeface="+mn-lt"/>
                <a:cs typeface="+mn-lt"/>
              </a:rPr>
              <a:t>                 </a:t>
            </a:r>
            <a:endParaRPr lang="en-IN" sz="2400">
              <a:solidFill>
                <a:srgbClr val="7030A0"/>
              </a:solidFill>
              <a:latin typeface="Times New Roman"/>
              <a:cs typeface="Calibri"/>
            </a:endParaRPr>
          </a:p>
          <a:p>
            <a:pPr marL="0" indent="0">
              <a:buNone/>
            </a:pPr>
            <a:r>
              <a:rPr lang="en-IN" sz="2400">
                <a:latin typeface="Times New Roman"/>
                <a:ea typeface="+mn-lt"/>
                <a:cs typeface="+mn-lt"/>
              </a:rPr>
              <a:t>                     </a:t>
            </a:r>
            <a:r>
              <a:rPr lang="en-IN" sz="2400">
                <a:solidFill>
                  <a:srgbClr val="7030A0"/>
                </a:solidFill>
                <a:latin typeface="Times New Roman"/>
                <a:ea typeface="+mn-lt"/>
                <a:cs typeface="+mn-lt"/>
              </a:rPr>
              <a:t>   </a:t>
            </a:r>
            <a:endParaRPr lang="en-IN" sz="2400">
              <a:solidFill>
                <a:srgbClr val="7030A0"/>
              </a:solidFill>
              <a:latin typeface="Times New Roman"/>
              <a:cs typeface="Calibri"/>
            </a:endParaRPr>
          </a:p>
          <a:p>
            <a:pPr marL="0" indent="0">
              <a:buNone/>
            </a:pPr>
            <a:endParaRPr lang="en-IN" sz="240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400">
                <a:latin typeface="Times New Roman"/>
                <a:ea typeface="+mn-lt"/>
                <a:cs typeface="+mn-lt"/>
              </a:rPr>
              <a:t>                                                     </a:t>
            </a:r>
            <a:endParaRPr lang="en-IN" sz="2400">
              <a:solidFill>
                <a:srgbClr val="7030A0"/>
              </a:solidFill>
              <a:latin typeface="Times New Roman"/>
              <a:cs typeface="Calibri"/>
            </a:endParaRPr>
          </a:p>
          <a:p>
            <a:endParaRPr lang="en-US" altLang="en-US" sz="28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2B60F-5CFC-44D0-98C6-349A59426B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903DB3-AAE8-4FF5-9622-658D29AAF241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C9EF-BEE0-4253-BA55-BC7A6ACA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040" y="6324601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1077" name="Slide Number Placeholder 5">
            <a:extLst>
              <a:ext uri="{FF2B5EF4-FFF2-40B4-BE49-F238E27FC236}">
                <a16:creationId xmlns:a16="http://schemas.microsoft.com/office/drawing/2014/main" id="{A083C896-6631-4149-9CDE-BB31C559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97D3D3-A2E2-474E-841E-4A887ADF5982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B01F3A-6A60-44F0-A000-C634615DE228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endParaRPr lang="en-US" sz="3200" b="1">
              <a:latin typeface="Times New Roman"/>
              <a:cs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sz="3200" b="1" dirty="0">
                <a:latin typeface="Times New Roman"/>
                <a:cs typeface="Times New Roman"/>
              </a:rPr>
              <a:t>MCQs</a:t>
            </a:r>
            <a:endParaRPr lang="en-US" dirty="0"/>
          </a:p>
          <a:p>
            <a:pPr algn="ctr">
              <a:spcAft>
                <a:spcPts val="0"/>
              </a:spcAft>
              <a:defRPr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1079" name="Picture 2" descr="E:\NIET\Project\xLogo11.png.pagespeed.ic.pydHLuCQEZ.png">
            <a:extLst>
              <a:ext uri="{FF2B5EF4-FFF2-40B4-BE49-F238E27FC236}">
                <a16:creationId xmlns:a16="http://schemas.microsoft.com/office/drawing/2014/main" id="{A195863D-9F4D-4546-8D9C-12116D3A5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9215F8-3743-4AC1-B333-791905C55EA9}"/>
              </a:ext>
            </a:extLst>
          </p:cNvPr>
          <p:cNvSpPr txBox="1"/>
          <p:nvPr/>
        </p:nvSpPr>
        <p:spPr>
          <a:xfrm>
            <a:off x="1444062" y="770627"/>
            <a:ext cx="84081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1. Which is not introspection method?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a) help()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b) sys()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c) </a:t>
            </a:r>
            <a:r>
              <a:rPr lang="en-IN" sz="2400" dirty="0" err="1">
                <a:latin typeface="Times New Roman"/>
                <a:cs typeface="Times New Roman"/>
              </a:rPr>
              <a:t>repr</a:t>
            </a:r>
            <a:r>
              <a:rPr lang="en-IN" sz="2400" dirty="0">
                <a:latin typeface="Times New Roman"/>
                <a:cs typeface="Times New Roman"/>
              </a:rPr>
              <a:t>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d) remove()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54053-2103-4C8B-A8CC-4355967ADBEC}"/>
              </a:ext>
            </a:extLst>
          </p:cNvPr>
          <p:cNvSpPr txBox="1"/>
          <p:nvPr/>
        </p:nvSpPr>
        <p:spPr>
          <a:xfrm>
            <a:off x="7460177" y="1819275"/>
            <a:ext cx="2468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/>
                <a:cs typeface="Times New Roman"/>
              </a:rPr>
              <a:t>Answer: 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FE2B0-01BE-4454-9AE3-32762F265257}"/>
              </a:ext>
            </a:extLst>
          </p:cNvPr>
          <p:cNvSpPr txBox="1"/>
          <p:nvPr/>
        </p:nvSpPr>
        <p:spPr>
          <a:xfrm>
            <a:off x="1429505" y="2695396"/>
            <a:ext cx="834346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2.Which of the following is not an introspection object?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a) type()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b) id()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c) </a:t>
            </a:r>
            <a:r>
              <a:rPr lang="en-IN" sz="2400" dirty="0" err="1">
                <a:latin typeface="Times New Roman"/>
                <a:cs typeface="Times New Roman"/>
              </a:rPr>
              <a:t>dir</a:t>
            </a:r>
            <a:r>
              <a:rPr lang="en-IN" sz="2400" dirty="0">
                <a:latin typeface="Times New Roman"/>
                <a:cs typeface="Times New Roman"/>
              </a:rPr>
              <a:t>()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d) Unbounded()  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E9014-8B04-4C1B-82D0-01B1A7D017EE}"/>
              </a:ext>
            </a:extLst>
          </p:cNvPr>
          <p:cNvSpPr txBox="1"/>
          <p:nvPr/>
        </p:nvSpPr>
        <p:spPr>
          <a:xfrm>
            <a:off x="1428698" y="4635442"/>
            <a:ext cx="789057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3.Special methods need to be explicitly called during object creation.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a) True</a:t>
            </a:r>
            <a:br>
              <a:rPr lang="en-IN" sz="2400">
                <a:latin typeface="Times New Roman"/>
                <a:cs typeface="Times New Roman"/>
              </a:rPr>
            </a:br>
            <a:r>
              <a:rPr lang="en-IN" sz="2400" dirty="0">
                <a:latin typeface="Times New Roman"/>
                <a:cs typeface="Times New Roman"/>
              </a:rPr>
              <a:t>b) False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B37D6-599E-43FB-BAE9-8BEFA0B6C49F}"/>
              </a:ext>
            </a:extLst>
          </p:cNvPr>
          <p:cNvSpPr txBox="1"/>
          <p:nvPr/>
        </p:nvSpPr>
        <p:spPr>
          <a:xfrm>
            <a:off x="7548329" y="5367788"/>
            <a:ext cx="2468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/>
                <a:cs typeface="Times New Roman"/>
              </a:rPr>
              <a:t>Answer: b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DFCC2-46C4-425F-BB05-8FECC7DC0ABE}"/>
              </a:ext>
            </a:extLst>
          </p:cNvPr>
          <p:cNvSpPr txBox="1"/>
          <p:nvPr/>
        </p:nvSpPr>
        <p:spPr>
          <a:xfrm>
            <a:off x="7456942" y="3670360"/>
            <a:ext cx="2468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/>
                <a:cs typeface="Times New Roman"/>
              </a:rPr>
              <a:t> Answer: d</a:t>
            </a:r>
            <a:r>
              <a:rPr lang="en-US" dirty="0">
                <a:latin typeface="Arial"/>
                <a:cs typeface="Arial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2" grpId="0"/>
      <p:bldP spid="3" grpId="0"/>
      <p:bldP spid="6" grpId="0"/>
      <p:bldP spid="8" grpId="0"/>
      <p:bldP spid="9" grpId="0"/>
      <p:bldP spid="1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4DC4AD4-8911-40D1-979C-E7DCE68EF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609" y="682926"/>
            <a:ext cx="9668485" cy="5541663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/>
                <a:ea typeface="+mn-lt"/>
                <a:cs typeface="+mn-lt"/>
              </a:rPr>
              <a:t>1. Is the following Python code valid?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 New Roman"/>
                <a:ea typeface="+mn-lt"/>
                <a:cs typeface="+mn-lt"/>
              </a:rPr>
              <a:t>   </a:t>
            </a:r>
            <a:r>
              <a:rPr lang="en-US" sz="2400" dirty="0">
                <a:latin typeface="Times"/>
                <a:ea typeface="+mn-lt"/>
                <a:cs typeface="+mn-lt"/>
              </a:rPr>
              <a:t>class B(object):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def first(self): </a:t>
            </a:r>
            <a:endParaRPr lang="en-US" sz="2400" dirty="0">
              <a:latin typeface="Times"/>
              <a:ea typeface="+mn-lt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print("First method called")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def second(): 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print("Second method called") 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 ob = B() 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 </a:t>
            </a:r>
            <a:r>
              <a:rPr lang="en-US" sz="2400" dirty="0" err="1">
                <a:latin typeface="Times"/>
                <a:ea typeface="+mn-lt"/>
                <a:cs typeface="+mn-lt"/>
              </a:rPr>
              <a:t>B.first</a:t>
            </a:r>
            <a:r>
              <a:rPr lang="en-US" sz="2400" dirty="0">
                <a:latin typeface="Times"/>
                <a:ea typeface="+mn-lt"/>
                <a:cs typeface="+mn-lt"/>
              </a:rPr>
              <a:t>(ob)</a:t>
            </a:r>
            <a:endParaRPr lang="en-US" sz="2400" dirty="0">
              <a:latin typeface="Times"/>
              <a:cs typeface="Times New Roman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 a) It isn’t as the object declaration isn’t right</a:t>
            </a:r>
            <a:br>
              <a:rPr lang="en-US" sz="2400" dirty="0">
                <a:latin typeface="Times"/>
                <a:ea typeface="+mn-lt"/>
                <a:cs typeface="+mn-lt"/>
              </a:rPr>
            </a:br>
            <a:r>
              <a:rPr lang="en-US" sz="2400" dirty="0">
                <a:latin typeface="Times"/>
                <a:ea typeface="+mn-lt"/>
                <a:cs typeface="+mn-lt"/>
              </a:rPr>
              <a:t> b) It isn’t as there isn’t any __</a:t>
            </a:r>
            <a:r>
              <a:rPr lang="en-US" sz="2400" dirty="0" err="1">
                <a:latin typeface="Times"/>
                <a:ea typeface="+mn-lt"/>
                <a:cs typeface="+mn-lt"/>
              </a:rPr>
              <a:t>init</a:t>
            </a:r>
            <a:r>
              <a:rPr lang="en-US" sz="2400" dirty="0">
                <a:latin typeface="Times"/>
                <a:ea typeface="+mn-lt"/>
                <a:cs typeface="+mn-lt"/>
              </a:rPr>
              <a:t>__ method for initializing class members</a:t>
            </a:r>
            <a:br>
              <a:rPr lang="en-US" sz="2400" dirty="0">
                <a:latin typeface="Times"/>
                <a:ea typeface="+mn-lt"/>
                <a:cs typeface="+mn-lt"/>
              </a:rPr>
            </a:br>
            <a:r>
              <a:rPr lang="en-US" sz="2400" dirty="0">
                <a:latin typeface="Times"/>
                <a:ea typeface="+mn-lt"/>
                <a:cs typeface="+mn-lt"/>
              </a:rPr>
              <a:t> c) Yes, this method of calling is called unbounded method call</a:t>
            </a:r>
            <a:br>
              <a:rPr lang="en-US" sz="2400" dirty="0">
                <a:latin typeface="Times"/>
                <a:ea typeface="+mn-lt"/>
                <a:cs typeface="+mn-lt"/>
              </a:rPr>
            </a:br>
            <a:r>
              <a:rPr lang="en-US" sz="2400" dirty="0">
                <a:latin typeface="Times"/>
                <a:ea typeface="+mn-lt"/>
                <a:cs typeface="+mn-lt"/>
              </a:rPr>
              <a:t> d) Yes, this method of calling is called bounded method call</a:t>
            </a:r>
            <a:endParaRPr lang="en-US" sz="2400" dirty="0">
              <a:latin typeface="Times"/>
              <a:cs typeface="Times"/>
            </a:endParaRPr>
          </a:p>
          <a:p>
            <a:pPr>
              <a:buNone/>
            </a:pPr>
            <a:r>
              <a:rPr lang="en-US" sz="2400" dirty="0">
                <a:latin typeface="Times"/>
                <a:ea typeface="+mn-lt"/>
                <a:cs typeface="+mn-lt"/>
              </a:rPr>
              <a:t>     </a:t>
            </a:r>
            <a:r>
              <a:rPr lang="en-US" sz="2400" dirty="0">
                <a:solidFill>
                  <a:srgbClr val="FF0000"/>
                </a:solidFill>
                <a:latin typeface="Times"/>
                <a:ea typeface="+mn-lt"/>
                <a:cs typeface="+mn-lt"/>
              </a:rPr>
              <a:t>Answer: c</a:t>
            </a:r>
            <a:endParaRPr lang="en-US" sz="2400" dirty="0">
              <a:solidFill>
                <a:srgbClr val="FF0000"/>
              </a:solidFill>
              <a:latin typeface="Times"/>
            </a:endParaRPr>
          </a:p>
          <a:p>
            <a:pPr marL="0" indent="0">
              <a:buNone/>
            </a:pPr>
            <a:endParaRPr lang="en-US" alt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2B60F-5CFC-44D0-98C6-349A59426B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BB0010-C4E6-478E-8E55-6E633DDA72C2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C9EF-BEE0-4253-BA55-BC7A6ACA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040" y="6324601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1077" name="Slide Number Placeholder 5">
            <a:extLst>
              <a:ext uri="{FF2B5EF4-FFF2-40B4-BE49-F238E27FC236}">
                <a16:creationId xmlns:a16="http://schemas.microsoft.com/office/drawing/2014/main" id="{A083C896-6631-4149-9CDE-BB31C559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97D3D3-A2E2-474E-841E-4A887ADF5982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B01F3A-6A60-44F0-A000-C634615DE228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/>
                <a:cs typeface="Times New Roman"/>
              </a:rPr>
              <a:t>Daily Quiz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1079" name="Picture 2" descr="E:\NIET\Project\xLogo11.png.pagespeed.ic.pydHLuCQEZ.png">
            <a:extLst>
              <a:ext uri="{FF2B5EF4-FFF2-40B4-BE49-F238E27FC236}">
                <a16:creationId xmlns:a16="http://schemas.microsoft.com/office/drawing/2014/main" id="{A195863D-9F4D-4546-8D9C-12116D3A5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34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9392D7E7-E10A-4DD3-9EC9-08A78C85A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241" y="688796"/>
            <a:ext cx="9339819" cy="5641525"/>
          </a:xfrm>
        </p:spPr>
        <p:txBody>
          <a:bodyPr/>
          <a:lstStyle/>
          <a:p>
            <a:pPr algn="just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2400" dirty="0">
                <a:latin typeface="Times New Roman"/>
                <a:cs typeface="Times New Roman"/>
              </a:rPr>
              <a:t>Not Applicable as Course has been introduced first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3A9B-98C4-43E1-9CE5-84CDA7B550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249D94E-3CC5-43E2-B3AF-4D3173227FF4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054FB-5EE8-479D-9FBA-783FE8CB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040" y="6324601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4149" name="Slide Number Placeholder 5">
            <a:extLst>
              <a:ext uri="{FF2B5EF4-FFF2-40B4-BE49-F238E27FC236}">
                <a16:creationId xmlns:a16="http://schemas.microsoft.com/office/drawing/2014/main" id="{5EA072DB-D748-4635-8F4A-85B62225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355DE-2098-4729-9F58-C0FEADE27DBF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FDF7684-B93D-49D6-9405-7B33792C826A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Question Papers</a:t>
            </a:r>
          </a:p>
        </p:txBody>
      </p:sp>
      <p:pic>
        <p:nvPicPr>
          <p:cNvPr id="134151" name="Picture 2" descr="E:\NIET\Project\xLogo11.png.pagespeed.ic.pydHLuCQEZ.png">
            <a:extLst>
              <a:ext uri="{FF2B5EF4-FFF2-40B4-BE49-F238E27FC236}">
                <a16:creationId xmlns:a16="http://schemas.microsoft.com/office/drawing/2014/main" id="{2BAB7EA4-A23E-4E7D-9F03-851F35441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F14516DF-59BE-4A9B-8589-63111008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241" y="826698"/>
            <a:ext cx="9326880" cy="5758132"/>
          </a:xfrm>
        </p:spPr>
        <p:txBody>
          <a:bodyPr/>
          <a:lstStyle/>
          <a:p>
            <a:pPr marL="0" indent="0" algn="just">
              <a:buNone/>
            </a:pPr>
            <a:endParaRPr lang="en-US" sz="2400" dirty="0">
              <a:latin typeface="Times New Roman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82588-4E92-4567-8AFB-2690C9DAA3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AB45E5-C019-438F-888E-00BF2EA412AC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DB48F-9C86-4596-B3AB-907611DE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7460" y="6356351"/>
            <a:ext cx="62407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5173" name="Slide Number Placeholder 5">
            <a:extLst>
              <a:ext uri="{FF2B5EF4-FFF2-40B4-BE49-F238E27FC236}">
                <a16:creationId xmlns:a16="http://schemas.microsoft.com/office/drawing/2014/main" id="{9B23EF8D-6DFB-4CBD-9CAC-F8236DAD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1EC52C-AAFF-4D15-868C-A79601D8A907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4EFE74-5A39-405F-A27F-B638F79A25AD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Expected Questions for University Exam </a:t>
            </a:r>
          </a:p>
        </p:txBody>
      </p:sp>
      <p:pic>
        <p:nvPicPr>
          <p:cNvPr id="135175" name="Picture 2" descr="E:\NIET\Project\xLogo11.png.pagespeed.ic.pydHLuCQEZ.png">
            <a:extLst>
              <a:ext uri="{FF2B5EF4-FFF2-40B4-BE49-F238E27FC236}">
                <a16:creationId xmlns:a16="http://schemas.microsoft.com/office/drawing/2014/main" id="{3F8B8925-1519-47E1-AA14-F1911F82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D62789EA-4C51-4C6D-8F7B-32E8713F8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180" y="1143000"/>
            <a:ext cx="8915400" cy="5029200"/>
          </a:xfrm>
        </p:spPr>
        <p:txBody>
          <a:bodyPr/>
          <a:lstStyle/>
          <a:p>
            <a:pPr marL="457200" lvl="1" indent="0" algn="just" eaLnBrk="1" hangingPunct="1">
              <a:buNone/>
            </a:pPr>
            <a:endParaRPr lang="en-I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F011C-B92E-41E0-981C-293413929D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9F025CC-A802-4857-8836-43993B61E0F4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57A0A-4D71-4615-91F0-ADD23E57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7460" y="6356351"/>
            <a:ext cx="62407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6197" name="Slide Number Placeholder 5">
            <a:extLst>
              <a:ext uri="{FF2B5EF4-FFF2-40B4-BE49-F238E27FC236}">
                <a16:creationId xmlns:a16="http://schemas.microsoft.com/office/drawing/2014/main" id="{D295185E-47E5-48AD-AA9C-64BD8D0B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811283-39FA-4C9B-84D3-AC01F6C6EC0D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CCA6A-E162-4B82-82D8-49E23BB23D76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Links/You Tube Links</a:t>
            </a:r>
          </a:p>
        </p:txBody>
      </p:sp>
      <p:pic>
        <p:nvPicPr>
          <p:cNvPr id="136199" name="Picture 2" descr="E:\NIET\Project\xLogo11.png.pagespeed.ic.pydHLuCQEZ.png">
            <a:extLst>
              <a:ext uri="{FF2B5EF4-FFF2-40B4-BE49-F238E27FC236}">
                <a16:creationId xmlns:a16="http://schemas.microsoft.com/office/drawing/2014/main" id="{5ED3EA7A-4DEF-4E1C-BBFD-F5266084B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A65D-C05B-4229-8E40-EFBEACCBB0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E9C20C8-5F28-447E-9B5E-A3131E0A6175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4A0A9-4EC6-434A-8B70-589BCFC8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4620" y="6356351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39268" name="Slide Number Placeholder 5">
            <a:extLst>
              <a:ext uri="{FF2B5EF4-FFF2-40B4-BE49-F238E27FC236}">
                <a16:creationId xmlns:a16="http://schemas.microsoft.com/office/drawing/2014/main" id="{49DA6BF7-EF4A-44DE-9112-6ECFD9E9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B75134-3449-4F7E-B83A-2CF0932C96B2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F67DD2-FA50-478E-9A8B-2234A125A4D6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139270" name="Picture 2" descr="E:\NIET\Project\xLogo11.png.pagespeed.ic.pydHLuCQEZ.png">
            <a:extLst>
              <a:ext uri="{FF2B5EF4-FFF2-40B4-BE49-F238E27FC236}">
                <a16:creationId xmlns:a16="http://schemas.microsoft.com/office/drawing/2014/main" id="{86F223F6-0355-4739-BF5E-3AC970C28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949587-80EF-4953-BDF6-486F19EE39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68BC54C-25A1-44B2-895A-84F5B9BEB547}" type="datetime1">
              <a:rPr lang="en-US" smtClean="0"/>
              <a:t>5/9/2023</a:t>
            </a:fld>
            <a:endParaRPr lang="en-US"/>
          </a:p>
        </p:txBody>
      </p:sp>
      <p:sp>
        <p:nvSpPr>
          <p:cNvPr id="137219" name="Slide Number Placeholder 6">
            <a:extLst>
              <a:ext uri="{FF2B5EF4-FFF2-40B4-BE49-F238E27FC236}">
                <a16:creationId xmlns:a16="http://schemas.microsoft.com/office/drawing/2014/main" id="{666DBCFA-5501-48A7-A904-DB90DE32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3EFCFE-2AAE-4D0B-8967-B47D91E7DB7F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E90794-F4B5-4223-A8DD-527791A83527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 &amp; REFERENCE BOOKS</a:t>
            </a:r>
          </a:p>
        </p:txBody>
      </p:sp>
      <p:pic>
        <p:nvPicPr>
          <p:cNvPr id="137221" name="Picture 2" descr="E:\NIET\Project\xLogo11.png.pagespeed.ic.pydHLuCQEZ.png">
            <a:extLst>
              <a:ext uri="{FF2B5EF4-FFF2-40B4-BE49-F238E27FC236}">
                <a16:creationId xmlns:a16="http://schemas.microsoft.com/office/drawing/2014/main" id="{674F1A7C-E913-476E-A973-05B70F186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99759D2-0D2C-4780-AA84-AB44DFD9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1780" y="6356351"/>
            <a:ext cx="603504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96DD53-6F3E-4AA8-A80F-013B1442C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95440"/>
              </p:ext>
            </p:extLst>
          </p:nvPr>
        </p:nvGraphicFramePr>
        <p:xfrm>
          <a:off x="1440180" y="685800"/>
          <a:ext cx="9395460" cy="32766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395460">
                  <a:extLst>
                    <a:ext uri="{9D8B030D-6E8A-4147-A177-3AD203B41FA5}">
                      <a16:colId xmlns:a16="http://schemas.microsoft.com/office/drawing/2014/main" val="3275030358"/>
                    </a:ext>
                  </a:extLst>
                </a:gridCol>
              </a:tblGrid>
              <a:tr h="3338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33525" algn="l"/>
                        </a:tabLst>
                      </a:pPr>
                      <a:r>
                        <a:rPr lang="en-IN" sz="2000" b="1" dirty="0">
                          <a:effectLst/>
                          <a:latin typeface="Times New Roman"/>
                          <a:cs typeface="Times New Roman"/>
                        </a:rPr>
                        <a:t>Text books:</a:t>
                      </a:r>
                      <a:endParaRPr lang="en-US" sz="2000" b="1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3988119435"/>
                  </a:ext>
                </a:extLst>
              </a:tr>
              <a:tr h="6514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33525" algn="l"/>
                        </a:tabLs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(1) Magnus Lie Hetland, "Beginning Python-From Novice to Professional"—Third Edition, </a:t>
                      </a:r>
                      <a:r>
                        <a:rPr lang="en-IN" sz="2000" dirty="0" err="1">
                          <a:effectLst/>
                          <a:latin typeface="Times New Roman"/>
                          <a:cs typeface="Times New Roman"/>
                        </a:rPr>
                        <a:t>Apress</a:t>
                      </a:r>
                      <a:endParaRPr lang="en-US" sz="20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4294083045"/>
                  </a:ext>
                </a:extLst>
              </a:tr>
              <a:tr h="6514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(2) Peter Morgan, Data Analysis from Scratch with Python, AI Sciences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2384761529"/>
                  </a:ext>
                </a:extLst>
              </a:tr>
              <a:tr h="98851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(3) Allen B. Downey, “Think Python: How to Think Like a Computer Scientist”, 2nd   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edition, Updated for Python 3, Shroff/O‘Reilly Publishers, 2016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1335467612"/>
                  </a:ext>
                </a:extLst>
              </a:tr>
              <a:tr h="6514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(4) Miguel Grinberg, Developing Web applications with python, OREILLY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277236063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1F3EBB-24E4-43BE-AB35-11DF52E23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432101"/>
              </p:ext>
            </p:extLst>
          </p:nvPr>
        </p:nvGraphicFramePr>
        <p:xfrm>
          <a:off x="1440180" y="3657601"/>
          <a:ext cx="9395460" cy="288766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395460">
                  <a:extLst>
                    <a:ext uri="{9D8B030D-6E8A-4147-A177-3AD203B41FA5}">
                      <a16:colId xmlns:a16="http://schemas.microsoft.com/office/drawing/2014/main" val="330943721"/>
                    </a:ext>
                  </a:extLst>
                </a:gridCol>
              </a:tblGrid>
              <a:tr h="32668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33525" algn="l"/>
                        </a:tabLst>
                      </a:pPr>
                      <a:r>
                        <a:rPr lang="en-IN" sz="2000" b="1" dirty="0">
                          <a:effectLst/>
                          <a:latin typeface="Times New Roman"/>
                          <a:cs typeface="Times New Roman"/>
                        </a:rPr>
                        <a:t>Reference Books:</a:t>
                      </a:r>
                      <a:endParaRPr lang="en-US" sz="2000" b="1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1211424624"/>
                  </a:ext>
                </a:extLst>
              </a:tr>
              <a:tr h="6601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33525" algn="l"/>
                        </a:tabLs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(1) Dusty Phillips, Python 3 Object-oriented Programming - Second Edition, O’Reilly</a:t>
                      </a:r>
                      <a:endParaRPr lang="en-US" sz="20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1754711527"/>
                  </a:ext>
                </a:extLst>
              </a:tr>
              <a:tr h="3217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33525" algn="l"/>
                        </a:tabLs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(2) Burkhard Meier, Python GUI Programming Cookbook - Third , </a:t>
                      </a:r>
                      <a:r>
                        <a:rPr lang="en-IN" sz="2000" dirty="0" err="1">
                          <a:effectLst/>
                          <a:latin typeface="Times New Roman"/>
                          <a:cs typeface="Times New Roman"/>
                        </a:rPr>
                        <a:t>Packt</a:t>
                      </a:r>
                      <a:endParaRPr lang="en-US" sz="20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86497575"/>
                  </a:ext>
                </a:extLst>
              </a:tr>
              <a:tr h="91890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(3) DOUG HELLMANN, THE PYTHON 3 STANDARD LIBRARY BY EXAMPLE, :</a:t>
                      </a:r>
                      <a:r>
                        <a:rPr lang="en-IN" sz="2000" dirty="0" err="1">
                          <a:effectLst/>
                          <a:latin typeface="Times New Roman"/>
                          <a:cs typeface="Times New Roman"/>
                        </a:rPr>
                        <a:t>Pyth</a:t>
                      </a: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 3 Stan </a:t>
                      </a:r>
                      <a:r>
                        <a:rPr lang="en-IN" sz="2000" dirty="0" err="1">
                          <a:effectLst/>
                          <a:latin typeface="Times New Roman"/>
                          <a:cs typeface="Times New Roman"/>
                        </a:rPr>
                        <a:t>Libr</a:t>
                      </a: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 Exam _2 (Developer's Library) 1st Edition, Kindle Edition.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3984682300"/>
                  </a:ext>
                </a:extLst>
              </a:tr>
              <a:tr h="6601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/>
                          <a:cs typeface="Times New Roman"/>
                        </a:rPr>
                        <a:t>(4) Kenneth A. Lambert, ―Fundamentals of Python: First Programs‖, CENGAGE Learning, 2012.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22" marR="61722" marT="0" marB="0"/>
                </a:tc>
                <a:extLst>
                  <a:ext uri="{0D108BD9-81ED-4DB2-BD59-A6C34878D82A}">
                    <a16:rowId xmlns:a16="http://schemas.microsoft.com/office/drawing/2014/main" val="208904708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EC54D-8406-4FF2-9D93-D6C77F04BD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93C661-FFE3-49B8-8B50-ECB05A950F79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1B712-5A1D-4CA4-97F3-686080A4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4620" y="6356351"/>
            <a:ext cx="6240780" cy="365125"/>
          </a:xfrm>
        </p:spPr>
        <p:txBody>
          <a:bodyPr/>
          <a:lstStyle/>
          <a:p>
            <a:pPr>
              <a:defRPr/>
            </a:pPr>
            <a:r>
              <a:rPr lang="en-US"/>
              <a:t>Problem Solving using Advanced Python      UNIT-3</a:t>
            </a:r>
            <a:endParaRPr lang="en-US" dirty="0"/>
          </a:p>
        </p:txBody>
      </p:sp>
      <p:sp>
        <p:nvSpPr>
          <p:cNvPr id="140292" name="Slide Number Placeholder 5">
            <a:extLst>
              <a:ext uri="{FF2B5EF4-FFF2-40B4-BE49-F238E27FC236}">
                <a16:creationId xmlns:a16="http://schemas.microsoft.com/office/drawing/2014/main" id="{F0F6B156-9447-4104-A47B-D5C043F7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FB1ED7-196C-4AF8-87F2-A0F9FAE6099F}" type="slidenum">
              <a:rPr lang="en-US" altLang="en-US" sz="1200" dirty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2603F6-8BD2-4DD1-89AF-4F4B09B6DF38}"/>
              </a:ext>
            </a:extLst>
          </p:cNvPr>
          <p:cNvSpPr txBox="1">
            <a:spLocks/>
          </p:cNvSpPr>
          <p:nvPr/>
        </p:nvSpPr>
        <p:spPr>
          <a:xfrm>
            <a:off x="1440180" y="0"/>
            <a:ext cx="953262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140294" name="Picture 2" descr="E:\NIET\Project\xLogo11.png.pagespeed.ic.pydHLuCQEZ.png">
            <a:extLst>
              <a:ext uri="{FF2B5EF4-FFF2-40B4-BE49-F238E27FC236}">
                <a16:creationId xmlns:a16="http://schemas.microsoft.com/office/drawing/2014/main" id="{67F02167-8BCD-426C-94D0-3B418AA7F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"/>
            <a:ext cx="130302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AE86570-6C45-46A5-83AD-046B8F6B7AF3}"/>
              </a:ext>
            </a:extLst>
          </p:cNvPr>
          <p:cNvSpPr/>
          <p:nvPr/>
        </p:nvSpPr>
        <p:spPr>
          <a:xfrm>
            <a:off x="3086100" y="1905000"/>
            <a:ext cx="4732020" cy="3581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2690</TotalTime>
  <Words>7051</Words>
  <Application>Microsoft Office PowerPoint</Application>
  <PresentationFormat>Custom</PresentationFormat>
  <Paragraphs>1076</Paragraphs>
  <Slides>85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1" baseType="lpstr">
      <vt:lpstr>Arial</vt:lpstr>
      <vt:lpstr>Calibri</vt:lpstr>
      <vt:lpstr>Times</vt:lpstr>
      <vt:lpstr>Times New Roman</vt:lpstr>
      <vt:lpstr>Wingdings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 comprehensions with conditional expression</vt:lpstr>
      <vt:lpstr>Nested IF with List Comprehension</vt:lpstr>
      <vt:lpstr>if...else With List Comprehension</vt:lpstr>
      <vt:lpstr>Python for-loop to list comprehension?</vt:lpstr>
      <vt:lpstr>Python for-loop to list comprehension? (cont.)</vt:lpstr>
      <vt:lpstr>Nested Loops in List Comprehension</vt:lpstr>
      <vt:lpstr>PowerPoint Presentation</vt:lpstr>
      <vt:lpstr>Python Dictionary Comprehension</vt:lpstr>
      <vt:lpstr>Python Dictionary Comprehension</vt:lpstr>
      <vt:lpstr>IMMUTABILITY</vt:lpstr>
      <vt:lpstr>IMMUTABILITY</vt:lpstr>
      <vt:lpstr>IMMUTABILITY</vt:lpstr>
      <vt:lpstr>CLOSURE</vt:lpstr>
      <vt:lpstr>CLOSURE</vt:lpstr>
      <vt:lpstr>CLOSURE</vt:lpstr>
      <vt:lpstr>CLOSURE</vt:lpstr>
      <vt:lpstr>CLOSURE</vt:lpstr>
      <vt:lpstr>Benefits of Python Closure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Generator Functions (CO3)</vt:lpstr>
      <vt:lpstr>Generator Functions</vt:lpstr>
      <vt:lpstr>Working of Python Generator</vt:lpstr>
      <vt:lpstr>Working of Python Generator</vt:lpstr>
      <vt:lpstr>Working of Python Generator</vt:lpstr>
      <vt:lpstr>Yielding into a Python List</vt:lpstr>
      <vt:lpstr>  Python List vs Generator in Python   </vt:lpstr>
      <vt:lpstr>     Introduction to Sub-routine (CO3)   </vt:lpstr>
      <vt:lpstr>     Introduction to Sub-routine...   </vt:lpstr>
      <vt:lpstr>    Co-routines (CO3)   </vt:lpstr>
      <vt:lpstr>    Python program for demonstrating  # coroutine execution    </vt:lpstr>
      <vt:lpstr>    Python program for demonstrating  # coroutine execution ...   </vt:lpstr>
      <vt:lpstr>    Closing a Coroutine   </vt:lpstr>
      <vt:lpstr>    Iterator (CO3)   </vt:lpstr>
      <vt:lpstr>    Iterator vs Iterable (CO3)   </vt:lpstr>
      <vt:lpstr>    Iterator vs Iterable   </vt:lpstr>
      <vt:lpstr>    Looping Through an Iterator   </vt:lpstr>
      <vt:lpstr>    Create an Iterator   </vt:lpstr>
      <vt:lpstr>    Example   </vt:lpstr>
      <vt:lpstr>    Example   </vt:lpstr>
      <vt:lpstr>    Stop Iteration (CO3)   </vt:lpstr>
      <vt:lpstr>    Stop Iteration   </vt:lpstr>
      <vt:lpstr>    Declarative Programming Language (CO3)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Rohini Sharma</cp:lastModifiedBy>
  <cp:revision>474</cp:revision>
  <dcterms:created xsi:type="dcterms:W3CDTF">2006-08-16T00:00:00Z</dcterms:created>
  <dcterms:modified xsi:type="dcterms:W3CDTF">2023-05-09T05:20:33Z</dcterms:modified>
</cp:coreProperties>
</file>